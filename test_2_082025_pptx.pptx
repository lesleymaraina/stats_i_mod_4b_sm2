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Regression-Based Hypothesis Testing: Part 2</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Lesley Chapman Hannah, Ph.D., M.S.College of Graduate StudiesNortheast Ohio Medical University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Lecture Overview</a:t>
            </a:r>
          </a:p>
          <a:p>
            <a:pPr lvl="0" indent="0" marL="0">
              <a:buNone/>
            </a:pPr>
            <a:r>
              <a:rPr/>
              <a:t>Previous lecture introduced:</a:t>
            </a:r>
          </a:p>
          <a:p>
            <a:pPr lvl="0"/>
            <a:r>
              <a:rPr/>
              <a:t>regression as an extension of earlier hypothesis-testing methods</a:t>
            </a:r>
          </a:p>
          <a:p>
            <a:pPr lvl="0"/>
            <a:r>
              <a:rPr/>
              <a:t>regression coefficients as population parameters</a:t>
            </a:r>
          </a:p>
          <a:p>
            <a:pPr lvl="0"/>
            <a:r>
              <a:rPr/>
              <a:t>null and alternative hypotheses for regression coefficients</a:t>
            </a:r>
          </a:p>
          <a:p>
            <a:pPr lvl="0"/>
            <a:r>
              <a:rPr/>
              <a:t>regression test statistics</a:t>
            </a:r>
          </a:p>
          <a:p>
            <a:pPr lvl="0"/>
            <a:r>
              <a:rPr/>
              <a:t>p-values and decision rules in regression settings</a:t>
            </a:r>
          </a:p>
          <a:p>
            <a:pPr lvl="0" indent="0" marL="0">
              <a:buNone/>
            </a:pPr>
            <a:r>
              <a:rPr/>
              <a:t>Lecture focus: practical applications of hypothesis testing within regression analysis.</a:t>
            </a:r>
          </a:p>
          <a:p>
            <a:pPr lvl="0" indent="0" marL="0">
              <a:buNone/>
            </a:pPr>
            <a:r>
              <a:rPr/>
              <a:t>Extend hypothesis testing into regression settings using linear and logistic regression models:</a:t>
            </a:r>
          </a:p>
          <a:p>
            <a:pPr lvl="0"/>
            <a:r>
              <a:rPr b="1"/>
              <a:t>linear regression</a:t>
            </a:r>
            <a:r>
              <a:rPr/>
              <a:t> for continuous outcomes</a:t>
            </a:r>
          </a:p>
          <a:p>
            <a:pPr lvl="0"/>
            <a:r>
              <a:rPr b="1"/>
              <a:t>logistic regression</a:t>
            </a:r>
            <a:r>
              <a:rPr/>
              <a:t> for binary outcomes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Goals</a:t>
            </a:r>
          </a:p>
        </p:txBody>
      </p:sp>
      <p:sp>
        <p:nvSpPr>
          <p:cNvPr id="3" name="Content Placeholder 2"/>
          <p:cNvSpPr>
            <a:spLocks noGrp="1"/>
          </p:cNvSpPr>
          <p:nvPr>
            <p:ph idx="1"/>
          </p:nvPr>
        </p:nvSpPr>
        <p:spPr/>
        <p:txBody>
          <a:bodyPr/>
          <a:lstStyle/>
          <a:p>
            <a:pPr lvl="0" indent="0" marL="0">
              <a:buNone/>
            </a:pPr>
            <a:r>
              <a:rPr/>
              <a:t>By the end of this lecture, students should be able to:</a:t>
            </a:r>
          </a:p>
          <a:p>
            <a:pPr lvl="0"/>
            <a:r>
              <a:rPr/>
              <a:t>translate applied biomedical questions into regression-based hypothesis tests</a:t>
            </a:r>
          </a:p>
          <a:p>
            <a:pPr lvl="0"/>
            <a:r>
              <a:rPr/>
              <a:t>identify the regression coefficient being tested</a:t>
            </a:r>
          </a:p>
          <a:p>
            <a:pPr lvl="0"/>
            <a:r>
              <a:rPr/>
              <a:t>distinguish unadjusted and adjusted regression models</a:t>
            </a:r>
          </a:p>
          <a:p>
            <a:pPr lvl="0"/>
            <a:r>
              <a:rPr/>
              <a:t>interpret linear regression coefficients for continuous outcomes</a:t>
            </a:r>
          </a:p>
          <a:p>
            <a:pPr lvl="0"/>
            <a:r>
              <a:rPr/>
              <a:t>interpret logistic regression coefficients, odds ratios, and predicted probabilities for binary outcomes</a:t>
            </a:r>
          </a:p>
          <a:p>
            <a:pPr lvl="0"/>
            <a:r>
              <a:rPr/>
              <a:t>connect P-values and confidence intervals to scientific conclusions</a:t>
            </a:r>
          </a:p>
          <a:p>
            <a:pPr lvl="0"/>
            <a:r>
              <a:rPr/>
              <a:t>explain why statistical significance and biomedical importance are related but not identical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Review: Regression Test Statistic</a:t>
                </a:r>
              </a:p>
              <a:p>
                <a:pPr lvl="0" indent="0" marL="0">
                  <a:buNone/>
                </a:pPr>
                <a:r>
                  <a:rPr/>
                  <a:t>Hypothesis tests are constructed using a regression test statistic:</a:t>
                </a:r>
              </a:p>
              <a:p>
                <a:pPr lvl="0" indent="0" marL="0">
                  <a:buNone/>
                </a:pPr>
                <a14:m>
                  <m:oMathPara xmlns:m="http://schemas.openxmlformats.org/officeDocument/2006/math">
                    <m:oMathParaPr>
                      <m:jc m:val="center"/>
                    </m:oMathParaPr>
                    <m:oMath>
                      <m:f>
                        <m:fPr>
                          <m:type m:val="bar"/>
                        </m:fPr>
                        <m:num>
                          <m:r>
                            <m:rPr>
                              <m:nor/>
                              <m:sty m:val="p"/>
                            </m:rPr>
                            <m:t>estimate</m:t>
                          </m:r>
                          <m:r>
                            <m:rPr>
                              <m:sty m:val="p"/>
                            </m:rPr>
                            <m:t>−</m:t>
                          </m:r>
                          <m:r>
                            <m:rPr>
                              <m:nor/>
                              <m:sty m:val="p"/>
                            </m:rPr>
                            <m:t>hypothesized value</m:t>
                          </m:r>
                        </m:num>
                        <m:den>
                          <m:r>
                            <m:rPr>
                              <m:nor/>
                              <m:sty m:val="p"/>
                            </m:rPr>
                            <m:t>standard error</m:t>
                          </m:r>
                        </m:den>
                      </m:f>
                    </m:oMath>
                  </m:oMathPara>
                </a14:m>
              </a:p>
              <a:p>
                <a:pPr lvl="0"/>
                <a:r>
                  <a:rPr/>
                  <a:t>estimate represents a regression coefficient while the standard error quantifies the expected sampling variability of that estimate</a:t>
                </a:r>
              </a:p>
              <a:p>
                <a:pPr lvl="0"/>
                <a:r>
                  <a:rPr/>
                  <a:t>test statistic measures how far the observed coefficient is from the null hypothesis after accounting for uncertainty in the data</a:t>
                </a:r>
              </a:p>
              <a:p>
                <a:pPr lvl="0"/>
                <a:r>
                  <a:rPr/>
                  <a:t>large absolute test statistic values provide stronger evidence against the null hypothesis and lead to smaller p-values</a:t>
                </a:r>
              </a:p>
              <a:p>
                <a:pPr lvl="0" indent="0" marL="0">
                  <a:buNone/>
                </a:pPr>
                <a:r>
                  <a:rPr b="1"/>
                  <a:t>Current lecture</a:t>
                </a:r>
                <a:r>
                  <a:rPr/>
                  <a:t> will discuss the application and interpretation of these regression hypothesis tests within linear and logistic regression models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Associations with Regression Models</a:t>
            </a:r>
          </a:p>
          <a:p>
            <a:pPr lvl="0" indent="0" marL="0">
              <a:buNone/>
            </a:pPr>
            <a:r>
              <a:rPr/>
              <a:t>Regression analysis is useful when the scientific question involves several patient, disease, or treatment characteristics simultaneously</a:t>
            </a:r>
          </a:p>
          <a:p>
            <a:pPr lvl="0" indent="0" marL="0">
              <a:buNone/>
            </a:pPr>
            <a:r>
              <a:rPr/>
              <a:t>Regression hypothesis testing helps answer whether the observed association is stronger than expected under the null hypothesis of no population association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Review: Regression Hypothesis Test</a:t>
                </a:r>
              </a:p>
              <a:p>
                <a:pPr lvl="0" indent="0" marL="0">
                  <a:buNone/>
                </a:pPr>
                <a:r>
                  <a:rPr/>
                  <a:t>For a single regression coefficient hypotheses include:</a:t>
                </a:r>
              </a:p>
              <a:p>
                <a:pPr lvl="0" indent="0" marL="0">
                  <a:buNone/>
                </a:pPr>
                <a14:m>
                  <m:oMathPara xmlns:m="http://schemas.openxmlformats.org/officeDocument/2006/math">
                    <m:oMathParaPr>
                      <m:jc m:val="center"/>
                    </m:oMathParaPr>
                    <m:oMath>
                      <m:sSub>
                        <m:e>
                          <m:r>
                            <m:t>H</m:t>
                          </m:r>
                        </m:e>
                        <m:sub>
                          <m:r>
                            <m:t>0</m:t>
                          </m:r>
                        </m:sub>
                      </m:sSub>
                      <m:r>
                        <m:rPr>
                          <m:sty m:val="p"/>
                        </m:rPr>
                        <m:t>:</m:t>
                      </m:r>
                      <m:sSub>
                        <m:e>
                          <m:r>
                            <m:t>β</m:t>
                          </m:r>
                        </m:e>
                        <m:sub>
                          <m:r>
                            <m:t>j</m:t>
                          </m:r>
                        </m:sub>
                      </m:sSub>
                      <m:r>
                        <m:rPr>
                          <m:sty m:val="p"/>
                        </m:rPr>
                        <m:t>=</m:t>
                      </m:r>
                      <m:r>
                        <m:t>0</m:t>
                      </m:r>
                    </m:oMath>
                  </m:oMathPara>
                </a14:m>
              </a:p>
              <a:p>
                <a:pPr lvl="0" indent="0" marL="0">
                  <a:buNone/>
                </a:pPr>
                <a14:m>
                  <m:oMathPara xmlns:m="http://schemas.openxmlformats.org/officeDocument/2006/math">
                    <m:oMathParaPr>
                      <m:jc m:val="center"/>
                    </m:oMathParaPr>
                    <m:oMath>
                      <m:sSub>
                        <m:e>
                          <m:r>
                            <m:t>H</m:t>
                          </m:r>
                        </m:e>
                        <m:sub>
                          <m:r>
                            <m:t>a</m:t>
                          </m:r>
                        </m:sub>
                      </m:sSub>
                      <m:r>
                        <m:rPr>
                          <m:sty m:val="p"/>
                        </m:rPr>
                        <m:t>:</m:t>
                      </m:r>
                      <m:sSub>
                        <m:e>
                          <m:r>
                            <m:t>β</m:t>
                          </m:r>
                        </m:e>
                        <m:sub>
                          <m:r>
                            <m:t>j</m:t>
                          </m:r>
                        </m:sub>
                      </m:sSub>
                      <m:r>
                        <m:rPr>
                          <m:sty m:val="p"/>
                        </m:rPr>
                        <m:t>≠</m:t>
                      </m:r>
                      <m:r>
                        <m:t>0</m:t>
                      </m:r>
                    </m:oMath>
                  </m:oMathPara>
                </a14:m>
              </a:p>
              <a:p>
                <a:pPr lvl="0" indent="0" marL="0">
                  <a:buNone/>
                </a:pPr>
                <a:r>
                  <a:rPr>
                    <a:latin typeface="Courier"/>
                  </a:rPr>
                  <a:t>null hypothesis</a:t>
                </a:r>
                <a:r>
                  <a:rPr/>
                  <a:t> : states that the predictor has no association with the outcome</a:t>
                </a:r>
              </a:p>
              <a:p>
                <a:pPr lvl="0" indent="0" marL="0">
                  <a:buNone/>
                </a:pPr>
                <a:r>
                  <a:rPr>
                    <a:latin typeface="Courier"/>
                  </a:rPr>
                  <a:t>alternative hypothesis</a:t>
                </a:r>
                <a:r>
                  <a:rPr/>
                  <a:t> : states that the predictor has an association with the outcome</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Review: Regression Test Statistic</a:t>
                </a:r>
              </a:p>
              <a:p>
                <a:pPr lvl="0" indent="0" marL="0">
                  <a:buNone/>
                </a:pPr>
                <a:r>
                  <a:rPr/>
                  <a:t>A regression test statistic has the form:</a:t>
                </a:r>
              </a:p>
              <a:p>
                <a:pPr lvl="0" indent="0" marL="0">
                  <a:buNone/>
                </a:pPr>
                <a14:m>
                  <m:oMathPara xmlns:m="http://schemas.openxmlformats.org/officeDocument/2006/math">
                    <m:oMathParaPr>
                      <m:jc m:val="center"/>
                    </m:oMathParaPr>
                    <m:oMath>
                      <m:r>
                        <m:rPr>
                          <m:nor/>
                          <m:sty m:val="p"/>
                        </m:rPr>
                        <m:t>test statistic</m:t>
                      </m:r>
                      <m:r>
                        <m:rPr>
                          <m:sty m:val="p"/>
                        </m:rPr>
                        <m:t>=</m:t>
                      </m:r>
                      <m:f>
                        <m:fPr>
                          <m:type m:val="bar"/>
                        </m:fPr>
                        <m:num>
                          <m:sSub>
                            <m:e>
                              <m:acc>
                                <m:accPr>
                                  <m:chr m:val="̂"/>
                                </m:accPr>
                                <m:e>
                                  <m:r>
                                    <m:t>β</m:t>
                                  </m:r>
                                </m:e>
                              </m:acc>
                            </m:e>
                            <m:sub>
                              <m:r>
                                <m:t>j</m:t>
                              </m:r>
                            </m:sub>
                          </m:sSub>
                          <m:r>
                            <m:rPr>
                              <m:sty m:val="p"/>
                            </m:rPr>
                            <m:t>−</m:t>
                          </m:r>
                          <m:sSub>
                            <m:e>
                              <m:r>
                                <m:t>β</m:t>
                              </m:r>
                            </m:e>
                            <m:sub>
                              <m:r>
                                <m:t>j</m:t>
                              </m:r>
                              <m:r>
                                <m:rPr>
                                  <m:sty m:val="p"/>
                                </m:rPr>
                                <m:t>,</m:t>
                              </m:r>
                              <m:r>
                                <m:t>0</m:t>
                              </m:r>
                            </m:sub>
                          </m:sSub>
                        </m:num>
                        <m:den>
                          <m:r>
                            <m:t>S</m:t>
                          </m:r>
                          <m:r>
                            <m:t>E</m:t>
                          </m:r>
                          <m:d>
                            <m:dPr>
                              <m:begChr m:val="("/>
                              <m:sepChr m:val=""/>
                              <m:endChr m:val=")"/>
                              <m:grow/>
                            </m:dPr>
                            <m:e>
                              <m:sSub>
                                <m:e>
                                  <m:acc>
                                    <m:accPr>
                                      <m:chr m:val="̂"/>
                                    </m:accPr>
                                    <m:e>
                                      <m:r>
                                        <m:t>β</m:t>
                                      </m:r>
                                    </m:e>
                                  </m:acc>
                                </m:e>
                                <m:sub>
                                  <m:r>
                                    <m:t>j</m:t>
                                  </m:r>
                                </m:sub>
                              </m:sSub>
                            </m:e>
                          </m:d>
                        </m:den>
                      </m:f>
                    </m:oMath>
                  </m:oMathPara>
                </a14:m>
              </a:p>
              <a:p>
                <a:pPr lvl="0"/>
                <a:r>
                  <a:rPr>
                    <a:latin typeface="Courier"/>
                  </a:rPr>
                  <a:t>regression test statistic</a:t>
                </a:r>
                <a:r>
                  <a:rPr/>
                  <a:t>: estimated coefficient minus the hypothesized coefficient value, divided by the standard error of the estimated coefficient</a:t>
                </a:r>
              </a:p>
              <a:p>
                <a:pPr lvl="0"/>
                <a:r>
                  <a:rPr/>
                  <a:t>statistic measures how many standard errors the estimated coefficient is from the null value.</a:t>
                </a:r>
              </a:p>
              <a:p>
                <a:pPr lvl="0" indent="0" marL="0">
                  <a:buNone/>
                </a:pPr>
                <a:r>
                  <a:rPr/>
                  <a:t>Decision Rule</a:t>
                </a:r>
              </a:p>
              <a:p>
                <a:pPr lvl="0" indent="0" marL="0">
                  <a:buNone/>
                </a:pPr>
                <a:r>
                  <a:rPr/>
                  <a:t>Reject </a:t>
                </a:r>
                <a14:m>
                  <m:oMath xmlns:m="http://schemas.openxmlformats.org/officeDocument/2006/math">
                    <m:sSub>
                      <m:e>
                        <m:r>
                          <m:t>H</m:t>
                        </m:r>
                      </m:e>
                      <m:sub>
                        <m:r>
                          <m:t>0</m:t>
                        </m:r>
                      </m:sub>
                    </m:sSub>
                  </m:oMath>
                </a14:m>
                <a:r>
                  <a:rPr/>
                  <a:t> if:</a:t>
                </a:r>
              </a:p>
              <a:p>
                <a:pPr lvl="0" indent="0" marL="0">
                  <a:buNone/>
                </a:pPr>
                <a14:m>
                  <m:oMathPara xmlns:m="http://schemas.openxmlformats.org/officeDocument/2006/math">
                    <m:oMathParaPr>
                      <m:jc m:val="center"/>
                    </m:oMathParaPr>
                    <m:oMath>
                      <m:r>
                        <m:t>P</m:t>
                      </m:r>
                      <m:r>
                        <m:rPr>
                          <m:nor/>
                          <m:sty m:val="p"/>
                        </m:rPr>
                        <m:t>-value</m:t>
                      </m:r>
                      <m:r>
                        <m:rPr>
                          <m:sty m:val="p"/>
                        </m:rPr>
                        <m:t>≤</m:t>
                      </m:r>
                      <m:r>
                        <m:t>α</m:t>
                      </m:r>
                    </m:oMath>
                  </m:oMathPara>
                </a14:m>
              </a:p>
              <a:p>
                <a:pPr lvl="0" indent="0" marL="0">
                  <a:buNone/>
                </a:pPr>
                <a:r>
                  <a:rPr/>
                  <a:t>Fail to reject </a:t>
                </a:r>
                <a14:m>
                  <m:oMath xmlns:m="http://schemas.openxmlformats.org/officeDocument/2006/math">
                    <m:sSub>
                      <m:e>
                        <m:r>
                          <m:t>H</m:t>
                        </m:r>
                      </m:e>
                      <m:sub>
                        <m:r>
                          <m:t>0</m:t>
                        </m:r>
                      </m:sub>
                    </m:sSub>
                  </m:oMath>
                </a14:m>
                <a:r>
                  <a:rPr/>
                  <a:t> if:</a:t>
                </a:r>
              </a:p>
              <a:p>
                <a:pPr lvl="0" indent="0" marL="0">
                  <a:buNone/>
                </a:pPr>
                <a14:m>
                  <m:oMathPara xmlns:m="http://schemas.openxmlformats.org/officeDocument/2006/math">
                    <m:oMathParaPr>
                      <m:jc m:val="center"/>
                    </m:oMathParaPr>
                    <m:oMath>
                      <m:r>
                        <m:t>P</m:t>
                      </m:r>
                      <m:r>
                        <m:rPr>
                          <m:nor/>
                          <m:sty m:val="p"/>
                        </m:rPr>
                        <m:t>-value</m:t>
                      </m:r>
                      <m:r>
                        <m:rPr>
                          <m:sty m:val="p"/>
                        </m:rPr>
                        <m:t>&gt;</m:t>
                      </m:r>
                      <m:r>
                        <m:t>α</m:t>
                      </m:r>
                    </m:oMath>
                  </m:oMathPara>
                </a14:m>
              </a:p>
              <a:p>
                <a:pPr lvl="0"/>
                <a:r>
                  <a:rPr/>
                  <a:t>statistical significance : sample provides enough evidence to reject the null hypothesis at the selected significance level</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Study Background</a:t>
            </a:r>
          </a:p>
          <a:p>
            <a:pPr lvl="0" indent="0" marL="0">
              <a:buNone/>
            </a:pPr>
            <a:r>
              <a:rPr/>
              <a:t>Investigators are studying factors associated with disease severity and treatment outcomes in a cohort of cancer patients.</a:t>
            </a:r>
          </a:p>
          <a:p>
            <a:pPr lvl="0" indent="0" marL="0">
              <a:buNone/>
            </a:pPr>
            <a:r>
              <a:rPr/>
              <a:t>Available variables include age, tumor stage, mutation status, and baseline disease burden.</a:t>
            </a:r>
          </a:p>
          <a:p>
            <a:pPr lvl="0" indent="0" marL="0">
              <a:buNone/>
            </a:pPr>
            <a:r>
              <a:rPr b="1"/>
              <a:t>Research goal</a:t>
            </a:r>
            <a:r>
              <a:rPr/>
              <a:t>: determine whether these characteristics are associated with clinical outcomes</a:t>
            </a:r>
          </a:p>
          <a:p>
            <a:pPr lvl="0" indent="0" marL="0">
              <a:buNone/>
            </a:pPr>
            <a:r>
              <a:rPr/>
              <a:t>Regression models will be used to estimate these associations and hypothesis tests will be used to evaluate the evidence supporting them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Primary Research Question(s)</a:t>
            </a:r>
          </a:p>
          <a:p>
            <a:pPr lvl="0" indent="0" marL="0">
              <a:buNone/>
            </a:pPr>
            <a:r>
              <a:rPr/>
              <a:t>Study focuses on two research questions:</a:t>
            </a:r>
          </a:p>
          <a:p>
            <a:pPr lvl="0" indent="0" marL="0">
              <a:buNone/>
            </a:pPr>
            <a:r>
              <a:rPr b="1"/>
              <a:t>Question 1 [Continuous Outcome]</a:t>
            </a:r>
          </a:p>
          <a:p>
            <a:pPr lvl="0" indent="0" marL="0">
              <a:buNone/>
            </a:pPr>
            <a:r>
              <a:rPr/>
              <a:t>Is tumor marker level associated with patient and disease characteristics such as tumor stage, mutation status, age, and baseline disease burden?</a:t>
            </a:r>
          </a:p>
          <a:p>
            <a:pPr lvl="0" indent="0" marL="0">
              <a:buNone/>
            </a:pPr>
            <a:r>
              <a:rPr b="1"/>
              <a:t>Question 2 [Binary Outcome]</a:t>
            </a:r>
          </a:p>
          <a:p>
            <a:pPr lvl="0" indent="0" marL="0">
              <a:buNone/>
            </a:pPr>
            <a:r>
              <a:rPr/>
              <a:t>Is treatment response associated with patient and disease characteristics such as tumor stage, mutation status, age, and baseline disease burden?</a:t>
            </a:r>
          </a:p>
          <a:p>
            <a:pPr lvl="0" indent="0" marL="0">
              <a:buNone/>
            </a:pPr>
            <a:r>
              <a:rPr/>
              <a:t>Regression hypothesis testing will be used to evaluate whether the estimated associations differ from zero</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 Used</a:t>
            </a:r>
          </a:p>
        </p:txBody>
      </p:sp>
      <p:sp>
        <p:nvSpPr>
          <p:cNvPr id="3" name="Content Placeholder 2"/>
          <p:cNvSpPr>
            <a:spLocks noGrp="1"/>
          </p:cNvSpPr>
          <p:nvPr>
            <p:ph idx="1"/>
          </p:nvPr>
        </p:nvSpPr>
        <p:spPr/>
        <p:txBody>
          <a:bodyPr/>
          <a:lstStyle/>
          <a:p>
            <a:pPr lvl="0" indent="0" marL="0">
              <a:buNone/>
            </a:pPr>
            <a:r>
              <a:rPr/>
              <a:t>This lecture uses the </a:t>
            </a:r>
            <a:r>
              <a:rPr b="1"/>
              <a:t>tidyverse</a:t>
            </a:r>
            <a:r>
              <a:rPr/>
              <a:t> collection of R packages.</a:t>
            </a:r>
          </a:p>
          <a:p>
            <a:pPr lvl="0" indent="0" marL="0">
              <a:buNone/>
            </a:pPr>
            <a:r>
              <a:rPr/>
              <a:t>The tidyverse includes tools for data organization, summarization, and visualization.</a:t>
            </a:r>
          </a:p>
          <a:p>
            <a:pPr lvl="0" indent="0" marL="0">
              <a:buNone/>
            </a:pPr>
            <a:r>
              <a:rPr/>
              <a:t>Within the tidyverse:</a:t>
            </a:r>
          </a:p>
          <a:p>
            <a:pPr lvl="0"/>
            <a:r>
              <a:rPr b="1"/>
              <a:t>dplyr</a:t>
            </a:r>
            <a:r>
              <a:rPr/>
              <a:t> supports data manipulation</a:t>
            </a:r>
          </a:p>
          <a:p>
            <a:pPr lvl="0"/>
            <a:r>
              <a:rPr b="1"/>
              <a:t>ggplot2</a:t>
            </a:r>
            <a:r>
              <a:rPr/>
              <a:t> supports plotting</a:t>
            </a:r>
          </a:p>
          <a:p>
            <a:pPr lvl="0"/>
            <a:r>
              <a:rPr>
                <a:latin typeface="Courier"/>
              </a:rPr>
              <a:t>lm()</a:t>
            </a:r>
            <a:r>
              <a:rPr/>
              <a:t> fits linear regression models</a:t>
            </a:r>
          </a:p>
          <a:p>
            <a:pPr lvl="0"/>
            <a:r>
              <a:rPr>
                <a:latin typeface="Courier"/>
              </a:rPr>
              <a:t>glm(..., family = binomial)</a:t>
            </a:r>
            <a:r>
              <a:rPr/>
              <a:t> fits logistic regression models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Simulated Dataset</a:t>
            </a:r>
          </a:p>
          <a:p>
            <a:pPr lvl="0" indent="0">
              <a:buNone/>
            </a:pPr>
            <a:r>
              <a:rPr>
                <a:latin typeface="Courier"/>
              </a:rPr>
              <a:t># A tibble: 8 × 7
     id   age stage mutation_status  baseline_burden tumor_marker response_label
  &lt;int&gt; &lt;dbl&gt; &lt;chr&gt; &lt;chr&gt;                      &lt;dbl&gt;        &lt;dbl&gt; &lt;chr&gt;         
1     1    66 I     Mutation absent             12           10.9 No response   
2     2    54 IV    Mutation absent              7.3         25.6 No response   
3     3    65 II    Mutation absent             14.5         21.8 Response      
4     4    46 III   Mutation absent             12.5         18.1 Response      
5     5    57 IV    Mutation present            13.7         28.8 No response   
6     6    58 III   Mutation present            11.9         22.1 No response   
7     7    53 II    Mutation absent             28.5         20.5 No response   
8     8    69 II    Mutation absent              9.8         15.9 Response      </a:t>
            </a:r>
          </a:p>
          <a:p>
            <a:pPr lvl="0" indent="0" marL="0">
              <a:buNone/>
            </a:pPr>
            <a:r>
              <a:rPr b="1"/>
              <a:t>Dataset Overview</a:t>
            </a:r>
          </a:p>
          <a:p>
            <a:pPr lvl="0"/>
            <a:r>
              <a:rPr/>
              <a:t>420 patients where each row represents a single patient</a:t>
            </a:r>
          </a:p>
          <a:p>
            <a:pPr lvl="0" indent="0" marL="0">
              <a:buNone/>
            </a:pPr>
            <a:r>
              <a:rPr/>
              <a:t>Key variables include:</a:t>
            </a:r>
          </a:p>
          <a:p>
            <a:pPr lvl="0"/>
            <a:r>
              <a:rPr/>
              <a:t>age</a:t>
            </a:r>
          </a:p>
          <a:p>
            <a:pPr lvl="0"/>
            <a:r>
              <a:rPr/>
              <a:t>tumor stage</a:t>
            </a:r>
          </a:p>
          <a:p>
            <a:pPr lvl="0"/>
            <a:r>
              <a:rPr/>
              <a:t>mutation status</a:t>
            </a:r>
          </a:p>
          <a:p>
            <a:pPr lvl="0"/>
            <a:r>
              <a:rPr/>
              <a:t>baseline disease burden</a:t>
            </a:r>
          </a:p>
          <a:p>
            <a:pPr lvl="0"/>
            <a:r>
              <a:rPr/>
              <a:t>tumor marker level</a:t>
            </a:r>
          </a:p>
          <a:p>
            <a:pPr lvl="0"/>
            <a:r>
              <a:rPr/>
              <a:t>treatment response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Model Selection and Outcome Type</a:t>
            </a:r>
          </a:p>
          <a:p>
            <a:pPr lvl="0" indent="0" marL="0">
              <a:buNone/>
            </a:pPr>
            <a:r>
              <a:rPr b="1"/>
              <a:t>Tumor Biomarker: PSA</a:t>
            </a:r>
          </a:p>
          <a:p>
            <a:pPr lvl="0"/>
            <a:r>
              <a:rPr/>
              <a:t>PSA [Prostate-Specific Antigen] level: A continuous blood-based biomarker commonly used in prostate cancer assessment and monitoring</a:t>
            </a:r>
          </a:p>
          <a:p>
            <a:pPr lvl="0"/>
            <a:r>
              <a:rPr/>
              <a:t>higher PSA levels may indicate larger tumor burden, more advanced disease, or cancer progression</a:t>
            </a:r>
          </a:p>
          <a:p>
            <a:pPr lvl="0"/>
            <a:r>
              <a:rPr/>
              <a:t>PSA is measured numerically (ng/mL), making it suitable for continuous outcome analyses</a:t>
            </a:r>
          </a:p>
          <a:p>
            <a:pPr lvl="0"/>
            <a:r>
              <a:rPr/>
              <a:t>PSA levels may vary according to tumor stage, mutation status, age, and baseline disease burden</a:t>
            </a:r>
          </a:p>
          <a:p>
            <a:pPr lvl="0"/>
            <a:r>
              <a:rPr/>
              <a:t>PSA levels listed in column labeled </a:t>
            </a:r>
            <a:r>
              <a:rPr>
                <a:latin typeface="Courier"/>
              </a:rPr>
              <a:t>tumor_marker</a:t>
            </a:r>
          </a:p>
          <a:p>
            <a:pPr lvl="0"/>
            <a:r>
              <a:rPr/>
              <a:t>linear regression can be used to estimate how expected PSA levels change across patient and disease characteristics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Linear Regression</a:t>
            </a:r>
          </a:p>
          <a:p>
            <a:pPr lvl="0"/>
            <a:r>
              <a:rPr/>
              <a:t>linear regression is used when the outcome variable is continuous</a:t>
            </a:r>
          </a:p>
          <a:p>
            <a:pPr lvl="0"/>
            <a:r>
              <a:rPr/>
              <a:t>Goal : evaluate associations between one or more predictors and the expected outcome value</a:t>
            </a:r>
          </a:p>
          <a:p>
            <a:pPr lvl="0" indent="0" marL="0">
              <a:buNone/>
            </a:pPr>
            <a:r>
              <a:rPr/>
              <a:t>Research question:</a:t>
            </a:r>
          </a:p>
          <a:p>
            <a:pPr lvl="0" indent="0" marL="1270000">
              <a:buNone/>
            </a:pPr>
            <a:r>
              <a:rPr sz="2000"/>
              <a:t>Is tumor stage associated with expected tumor marker level after accounting for age, mutation status, and baseline disease burden?</a:t>
            </a:r>
          </a:p>
          <a:p>
            <a:pPr lvl="0"/>
            <a:r>
              <a:rPr/>
              <a:t>linear regression allows variables to be evaluated simultaneously while estimating the unique association between tumor stage and the outcome</a:t>
            </a:r>
          </a:p>
          <a:p>
            <a:pPr lvl="0"/>
            <a:r>
              <a:rPr/>
              <a:t>hypothesis test evaluates whether the estimated stage coefficient differs from zero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multivariable linear regression model can be written as:</a:t>
                </a:r>
              </a:p>
              <a:p>
                <a:pPr lvl="0" indent="0" marL="0">
                  <a:buNone/>
                </a:pPr>
                <a14:m>
                  <m:oMathPara xmlns:m="http://schemas.openxmlformats.org/officeDocument/2006/math">
                    <m:oMathParaPr>
                      <m:jc m:val="center"/>
                    </m:oMathParaPr>
                    <m:oMath>
                      <m:r>
                        <m:t>E</m:t>
                      </m:r>
                      <m:d>
                        <m:dPr>
                          <m:begChr m:val="("/>
                          <m:sepChr m:val=""/>
                          <m:endChr m:val=")"/>
                          <m:grow/>
                        </m:dPr>
                        <m:e>
                          <m:r>
                            <m:t>Y</m:t>
                          </m:r>
                          <m:r>
                            <m:rPr>
                              <m:sty m:val="p"/>
                            </m:rPr>
                            <m:t>∣</m:t>
                          </m:r>
                          <m:sSub>
                            <m:e>
                              <m:r>
                                <m:t>X</m:t>
                              </m:r>
                            </m:e>
                            <m:sub>
                              <m:r>
                                <m:t>i</m:t>
                              </m:r>
                            </m:sub>
                          </m:sSub>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sSub>
                        <m:e>
                          <m:r>
                            <m:t>β</m:t>
                          </m:r>
                        </m:e>
                        <m:sub>
                          <m:r>
                            <m:t>3</m:t>
                          </m:r>
                        </m:sub>
                      </m:sSub>
                      <m:sSub>
                        <m:e>
                          <m:r>
                            <m:t>X</m:t>
                          </m:r>
                        </m:e>
                        <m:sub>
                          <m:r>
                            <m:t>3</m:t>
                          </m:r>
                        </m:sub>
                      </m:sSub>
                      <m:r>
                        <m:rPr>
                          <m:sty m:val="p"/>
                        </m:rPr>
                        <m:t>+</m:t>
                      </m:r>
                      <m:sSub>
                        <m:e>
                          <m:r>
                            <m:t>β</m:t>
                          </m:r>
                        </m:e>
                        <m:sub>
                          <m:r>
                            <m:t>4</m:t>
                          </m:r>
                        </m:sub>
                      </m:sSub>
                      <m:sSub>
                        <m:e>
                          <m:r>
                            <m:t>X</m:t>
                          </m:r>
                        </m:e>
                        <m:sub>
                          <m:r>
                            <m:t>4</m:t>
                          </m:r>
                        </m:sub>
                      </m:sSub>
                    </m:oMath>
                  </m:oMathPara>
                </a14:m>
              </a:p>
              <a:p>
                <a:pPr lvl="0" indent="0" marL="0">
                  <a:buNone/>
                </a:pPr>
                <a:r>
                  <a:rPr/>
                  <a:t>Formula interpretation: expected continuous outcome is modeled as a linear function of multiple predictors.</a:t>
                </a:r>
              </a:p>
              <a:p>
                <a:pPr lvl="0" indent="0" marL="0">
                  <a:buNone/>
                </a:pPr>
                <a:r>
                  <a:rPr/>
                  <a:t>Where:</a:t>
                </a:r>
              </a:p>
              <a:p>
                <a:pPr lvl="0"/>
                <a14:m>
                  <m:oMath xmlns:m="http://schemas.openxmlformats.org/officeDocument/2006/math">
                    <m:r>
                      <m:t>Y</m:t>
                    </m:r>
                  </m:oMath>
                </a14:m>
                <a:r>
                  <a:rPr/>
                  <a:t> : tumor biomarker level</a:t>
                </a:r>
              </a:p>
              <a:p>
                <a:pPr lvl="0"/>
                <a14:m>
                  <m:oMath xmlns:m="http://schemas.openxmlformats.org/officeDocument/2006/math">
                    <m:sSub>
                      <m:e>
                        <m:r>
                          <m:t>X</m:t>
                        </m:r>
                      </m:e>
                      <m:sub>
                        <m:r>
                          <m:t>1</m:t>
                        </m:r>
                      </m:sub>
                    </m:sSub>
                  </m:oMath>
                </a14:m>
                <a:r>
                  <a:rPr/>
                  <a:t> : tumor stage</a:t>
                </a:r>
              </a:p>
              <a:p>
                <a:pPr lvl="0"/>
                <a14:m>
                  <m:oMath xmlns:m="http://schemas.openxmlformats.org/officeDocument/2006/math">
                    <m:sSub>
                      <m:e>
                        <m:r>
                          <m:t>X</m:t>
                        </m:r>
                      </m:e>
                      <m:sub>
                        <m:r>
                          <m:t>2</m:t>
                        </m:r>
                      </m:sub>
                    </m:sSub>
                  </m:oMath>
                </a14:m>
                <a:r>
                  <a:rPr/>
                  <a:t> : age</a:t>
                </a:r>
              </a:p>
              <a:p>
                <a:pPr lvl="0"/>
                <a14:m>
                  <m:oMath xmlns:m="http://schemas.openxmlformats.org/officeDocument/2006/math">
                    <m:sSub>
                      <m:e>
                        <m:r>
                          <m:t>X</m:t>
                        </m:r>
                      </m:e>
                      <m:sub>
                        <m:r>
                          <m:t>3</m:t>
                        </m:r>
                      </m:sub>
                    </m:sSub>
                  </m:oMath>
                </a14:m>
                <a:r>
                  <a:rPr/>
                  <a:t> : mutation status</a:t>
                </a:r>
              </a:p>
              <a:p>
                <a:pPr lvl="0"/>
                <a14:m>
                  <m:oMath xmlns:m="http://schemas.openxmlformats.org/officeDocument/2006/math">
                    <m:sSub>
                      <m:e>
                        <m:r>
                          <m:t>X</m:t>
                        </m:r>
                      </m:e>
                      <m:sub>
                        <m:r>
                          <m:t>4</m:t>
                        </m:r>
                      </m:sub>
                    </m:sSub>
                  </m:oMath>
                </a14:m>
                <a:r>
                  <a:rPr/>
                  <a:t> : baseline disease burden</a:t>
                </a:r>
              </a:p>
            </p:txBody>
          </p:sp>
        </mc:Choice>
      </mc:AlternateContent>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t>E</m:t>
                      </m:r>
                      <m:d>
                        <m:dPr>
                          <m:begChr m:val="("/>
                          <m:sepChr m:val=""/>
                          <m:endChr m:val=")"/>
                          <m:grow/>
                        </m:dPr>
                        <m:e>
                          <m:r>
                            <m:t>Y</m:t>
                          </m:r>
                          <m:r>
                            <m:rPr>
                              <m:sty m:val="p"/>
                            </m:rPr>
                            <m:t>∣</m:t>
                          </m:r>
                          <m:sSub>
                            <m:e>
                              <m:r>
                                <m:t>X</m:t>
                              </m:r>
                            </m:e>
                            <m:sub>
                              <m:r>
                                <m:t>i</m:t>
                              </m:r>
                            </m:sub>
                          </m:sSub>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sSub>
                        <m:e>
                          <m:r>
                            <m:t>β</m:t>
                          </m:r>
                        </m:e>
                        <m:sub>
                          <m:r>
                            <m:t>3</m:t>
                          </m:r>
                        </m:sub>
                      </m:sSub>
                      <m:sSub>
                        <m:e>
                          <m:r>
                            <m:t>X</m:t>
                          </m:r>
                        </m:e>
                        <m:sub>
                          <m:r>
                            <m:t>3</m:t>
                          </m:r>
                        </m:sub>
                      </m:sSub>
                      <m:r>
                        <m:rPr>
                          <m:sty m:val="p"/>
                        </m:rPr>
                        <m:t>+</m:t>
                      </m:r>
                      <m:sSub>
                        <m:e>
                          <m:r>
                            <m:t>β</m:t>
                          </m:r>
                        </m:e>
                        <m:sub>
                          <m:r>
                            <m:t>4</m:t>
                          </m:r>
                        </m:sub>
                      </m:sSub>
                      <m:sSub>
                        <m:e>
                          <m:r>
                            <m:t>X</m:t>
                          </m:r>
                        </m:e>
                        <m:sub>
                          <m:r>
                            <m:t>4</m:t>
                          </m:r>
                        </m:sub>
                      </m:sSub>
                    </m:oMath>
                  </m:oMathPara>
                </a14:m>
              </a:p>
              <a:p>
                <a:pPr lvl="0"/>
                <a14:m>
                  <m:oMath xmlns:m="http://schemas.openxmlformats.org/officeDocument/2006/math">
                    <m:r>
                      <m:t>E</m:t>
                    </m:r>
                    <m:d>
                      <m:dPr>
                        <m:begChr m:val="("/>
                        <m:sepChr m:val=""/>
                        <m:endChr m:val=")"/>
                        <m:grow/>
                      </m:dPr>
                      <m:e>
                        <m:r>
                          <m:t>Y</m:t>
                        </m:r>
                        <m:r>
                          <m:rPr>
                            <m:sty m:val="p"/>
                          </m:rPr>
                          <m:t>∣</m:t>
                        </m:r>
                        <m:sSub>
                          <m:e>
                            <m:r>
                              <m:t>X</m:t>
                            </m:r>
                          </m:e>
                          <m:sub>
                            <m:r>
                              <m:t>i</m:t>
                            </m:r>
                          </m:sub>
                        </m:sSub>
                      </m:e>
                    </m:d>
                  </m:oMath>
                </a14:m>
                <a:r>
                  <a:rPr/>
                  <a:t> : expected tumor biomarker level for a given set of predictor values</a:t>
                </a:r>
              </a:p>
              <a:p>
                <a:pPr lvl="0"/>
                <a14:m>
                  <m:oMath xmlns:m="http://schemas.openxmlformats.org/officeDocument/2006/math">
                    <m:sSub>
                      <m:e>
                        <m:r>
                          <m:t>β</m:t>
                        </m:r>
                      </m:e>
                      <m:sub>
                        <m:r>
                          <m:t>0</m:t>
                        </m:r>
                      </m:sub>
                    </m:sSub>
                  </m:oMath>
                </a14:m>
                <a:r>
                  <a:rPr/>
                  <a:t> : intercept</a:t>
                </a:r>
              </a:p>
              <a:p>
                <a:pPr lvl="0"/>
                <a14:m>
                  <m:oMath xmlns:m="http://schemas.openxmlformats.org/officeDocument/2006/math">
                    <m:sSub>
                      <m:e>
                        <m:r>
                          <m:t>β</m:t>
                        </m:r>
                      </m:e>
                      <m:sub>
                        <m:r>
                          <m:t>1</m:t>
                        </m:r>
                      </m:sub>
                    </m:sSub>
                  </m:oMath>
                </a14:m>
                <a:r>
                  <a:rPr/>
                  <a:t> : expected difference in tumor biomarker level for a one-unit increase in tumor stage, holding other variables constant</a:t>
                </a:r>
              </a:p>
              <a:p>
                <a:pPr lvl="0"/>
                <a:r>
                  <a:rPr/>
                  <a:t>remaining coefficients interpreted while holding the other included variables constant</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Linear Regression Hypothesis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test evaluates whether tumor stage is associated with expected tumor biomarker level after accounting for age, mutation status, and baseline disease burden</a:t>
                </a:r>
              </a:p>
              <a:p>
                <a:pPr lvl="0"/>
                <a:r>
                  <a:rPr/>
                  <a:t>Biology Background: tumor stage describes how large a cancer is and how far it has spread in the body. Stages range from Stage 0, where abnormal cells are present but have not spread, to Stage IV, where cancer has spread to distant parts of the body, with Stages I–III representing increasing tumor size and/or spread to nearby tissues or lymph nodes</a:t>
                </a:r>
              </a:p>
              <a:p>
                <a:pPr lvl="0" indent="0" marL="0">
                  <a:buNone/>
                </a:pPr>
                <a:r>
                  <a:rPr/>
                  <a:t>Tumor stage the coefficient of interest : </a:t>
                </a:r>
                <a14:m>
                  <m:oMath xmlns:m="http://schemas.openxmlformats.org/officeDocument/2006/math">
                    <m:sSub>
                      <m:e>
                        <m:r>
                          <m:t>β</m:t>
                        </m:r>
                      </m:e>
                      <m:sub>
                        <m:r>
                          <m:t>s</m:t>
                        </m:r>
                        <m:r>
                          <m:t>t</m:t>
                        </m:r>
                        <m:r>
                          <m:t>a</m:t>
                        </m:r>
                        <m:r>
                          <m:t>g</m:t>
                        </m:r>
                        <m:r>
                          <m:t>e</m:t>
                        </m:r>
                      </m:sub>
                    </m:sSub>
                  </m:oMath>
                </a14:m>
              </a:p>
              <a:p>
                <a:pPr lvl="0" indent="0" marL="0">
                  <a:buNone/>
                </a:pPr>
                <a:r>
                  <a:rPr/>
                  <a:t>Null hypothesis :</a:t>
                </a:r>
              </a:p>
              <a:p>
                <a:pPr lvl="0" indent="0" marL="0">
                  <a:buNone/>
                </a:pPr>
                <a14:m>
                  <m:oMathPara xmlns:m="http://schemas.openxmlformats.org/officeDocument/2006/math">
                    <m:oMathParaPr>
                      <m:jc m:val="center"/>
                    </m:oMathParaPr>
                    <m:oMath>
                      <m:sSub>
                        <m:e>
                          <m:r>
                            <m:t>H</m:t>
                          </m:r>
                        </m:e>
                        <m:sub>
                          <m:r>
                            <m:t>0</m:t>
                          </m:r>
                        </m:sub>
                      </m:sSub>
                      <m:r>
                        <m:rPr>
                          <m:sty m:val="p"/>
                        </m:rPr>
                        <m:t>:</m:t>
                      </m:r>
                      <m:sSub>
                        <m:e>
                          <m:r>
                            <m:t>β</m:t>
                          </m:r>
                        </m:e>
                        <m:sub>
                          <m:r>
                            <m:t>s</m:t>
                          </m:r>
                          <m:r>
                            <m:t>t</m:t>
                          </m:r>
                          <m:r>
                            <m:t>a</m:t>
                          </m:r>
                          <m:r>
                            <m:t>g</m:t>
                          </m:r>
                          <m:r>
                            <m:t>e</m:t>
                          </m:r>
                        </m:sub>
                      </m:sSub>
                      <m:r>
                        <m:rPr>
                          <m:sty m:val="p"/>
                        </m:rPr>
                        <m:t>=</m:t>
                      </m:r>
                      <m:r>
                        <m:t>0</m:t>
                      </m:r>
                    </m:oMath>
                  </m:oMathPara>
                </a14:m>
              </a:p>
              <a:p>
                <a:pPr lvl="0" indent="0" marL="0">
                  <a:buNone/>
                </a:pPr>
                <a:r>
                  <a:rPr/>
                  <a:t>Alternative hypothesis:</a:t>
                </a:r>
              </a:p>
              <a:p>
                <a:pPr lvl="0" indent="0" marL="0">
                  <a:buNone/>
                </a:pPr>
                <a14:m>
                  <m:oMathPara xmlns:m="http://schemas.openxmlformats.org/officeDocument/2006/math">
                    <m:oMathParaPr>
                      <m:jc m:val="center"/>
                    </m:oMathParaPr>
                    <m:oMath>
                      <m:sSub>
                        <m:e>
                          <m:r>
                            <m:t>H</m:t>
                          </m:r>
                        </m:e>
                        <m:sub>
                          <m:r>
                            <m:t>a</m:t>
                          </m:r>
                        </m:sub>
                      </m:sSub>
                      <m:r>
                        <m:rPr>
                          <m:sty m:val="p"/>
                        </m:rPr>
                        <m:t>:</m:t>
                      </m:r>
                      <m:sSub>
                        <m:e>
                          <m:r>
                            <m:t>β</m:t>
                          </m:r>
                        </m:e>
                        <m:sub>
                          <m:r>
                            <m:t>s</m:t>
                          </m:r>
                          <m:r>
                            <m:t>t</m:t>
                          </m:r>
                          <m:r>
                            <m:t>a</m:t>
                          </m:r>
                          <m:r>
                            <m:t>g</m:t>
                          </m:r>
                          <m:r>
                            <m:t>e</m:t>
                          </m:r>
                        </m:sub>
                      </m:sSub>
                      <m:r>
                        <m:rPr>
                          <m:sty m:val="p"/>
                        </m:rPr>
                        <m:t>≠</m:t>
                      </m:r>
                      <m:r>
                        <m:t>0</m:t>
                      </m:r>
                    </m:oMath>
                  </m:oMathPara>
                </a14:m>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Fit the Linear Regression Model</a:t>
            </a:r>
          </a:p>
          <a:p>
            <a:pPr lvl="0" indent="0">
              <a:buNone/>
            </a:pPr>
            <a:r>
              <a:rPr>
                <a:solidFill>
                  <a:srgbClr val="003B4F"/>
                </a:solidFill>
                <a:latin typeface="Courier"/>
              </a:rPr>
              <a:t>linear_model &lt;- </a:t>
            </a:r>
            <a:r>
              <a:rPr>
                <a:solidFill>
                  <a:srgbClr val="4758AB"/>
                </a:solidFill>
                <a:latin typeface="Courier"/>
              </a:rPr>
              <a:t>lm</a:t>
            </a:r>
            <a:r>
              <a:rPr>
                <a:solidFill>
                  <a:srgbClr val="003B4F"/>
                </a:solidFill>
                <a:latin typeface="Courier"/>
              </a:rPr>
              <a:t>(</a:t>
            </a:r>
            <a:br/>
            <a:r>
              <a:rPr>
                <a:solidFill>
                  <a:srgbClr val="003B4F"/>
                </a:solidFill>
                <a:latin typeface="Courier"/>
              </a:rPr>
              <a:t>  tumor_marker </a:t>
            </a:r>
            <a:r>
              <a:rPr>
                <a:solidFill>
                  <a:srgbClr val="5E5E5E"/>
                </a:solidFill>
                <a:latin typeface="Courier"/>
              </a:rPr>
              <a:t>~</a:t>
            </a:r>
            <a:r>
              <a:rPr>
                <a:solidFill>
                  <a:srgbClr val="003B4F"/>
                </a:solidFill>
                <a:latin typeface="Courier"/>
              </a:rPr>
              <a:t> stage_num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mutation_binary </a:t>
            </a:r>
            <a:r>
              <a:rPr>
                <a:solidFill>
                  <a:srgbClr val="5E5E5E"/>
                </a:solidFill>
                <a:latin typeface="Courier"/>
              </a:rPr>
              <a:t>+</a:t>
            </a:r>
            <a:r>
              <a:rPr>
                <a:solidFill>
                  <a:srgbClr val="003B4F"/>
                </a:solidFill>
                <a:latin typeface="Courier"/>
              </a:rPr>
              <a:t> baseline_burden,</a:t>
            </a:r>
            <a:br/>
            <a:r>
              <a:rPr>
                <a:solidFill>
                  <a:srgbClr val="003B4F"/>
                </a:solidFill>
                <a:latin typeface="Courier"/>
              </a:rPr>
              <a:t>  </a:t>
            </a:r>
            <a:r>
              <a:rPr>
                <a:solidFill>
                  <a:srgbClr val="657422"/>
                </a:solidFill>
                <a:latin typeface="Courier"/>
              </a:rPr>
              <a:t>data =</a:t>
            </a:r>
            <a:r>
              <a:rPr>
                <a:solidFill>
                  <a:srgbClr val="003B4F"/>
                </a:solidFill>
                <a:latin typeface="Courier"/>
              </a:rPr>
              <a:t> cancer_df</a:t>
            </a:r>
            <a:br/>
            <a:r>
              <a:rPr>
                <a:solidFill>
                  <a:srgbClr val="003B4F"/>
                </a:solidFill>
                <a:latin typeface="Courier"/>
              </a:rPr>
              <a:t>)</a:t>
            </a:r>
            <a:br/>
            <a:br/>
            <a:r>
              <a:rPr>
                <a:solidFill>
                  <a:srgbClr val="4758AB"/>
                </a:solidFill>
                <a:latin typeface="Courier"/>
              </a:rPr>
              <a:t>summary</a:t>
            </a:r>
            <a:r>
              <a:rPr>
                <a:solidFill>
                  <a:srgbClr val="003B4F"/>
                </a:solidFill>
                <a:latin typeface="Courier"/>
              </a:rPr>
              <a:t>(linear_model)</a:t>
            </a:r>
          </a:p>
          <a:p>
            <a:pPr lvl="0" indent="0">
              <a:buNone/>
            </a:pPr>
            <a:r>
              <a:rPr>
                <a:latin typeface="Courier"/>
              </a:rPr>
              <a:t>
Call:
lm(formula = tumor_marker ~ stage_num + age + mutation_binary + 
    baseline_burden, data = cancer_df)
Residuals:
    Min      1Q  Median      3Q     Max 
-8.1336 -1.8051 -0.1409  2.0397  9.7078 
Coefficients:
                Estimate Std. Error t value Pr(&gt;|t|)    
(Intercept)      2.90594    1.02628   2.832  0.00486 ** 
stage_num        4.27562    0.14059  30.413  &lt; 2e-16 ***
age              0.03884    0.01518   2.559  0.01085 *  
mutation_binary  3.09060    0.30446  10.151  &lt; 2e-16 ***
baseline_burden  0.19001    0.02371   8.015 1.13e-14 ***
---
Signif. codes:  0 '***' 0.001 '**' 0.01 '*' 0.05 '.' 0.1 ' ' 1
Residual standard error: 2.912 on 415 degrees of freedom
Multiple R-squared:  0.7263,    Adjusted R-squared:  0.7236 
F-statistic: 275.3 on 4 and 415 DF,  p-value: &lt; 2.2e-16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Evaluate Linear Regression Results</a:t>
            </a:r>
          </a:p>
          <a:p>
            <a:pPr lvl="0" indent="0">
              <a:buNone/>
            </a:pPr>
            <a:r>
              <a:rPr>
                <a:solidFill>
                  <a:srgbClr val="003B4F"/>
                </a:solidFill>
                <a:latin typeface="Courier"/>
              </a:rPr>
              <a:t>linear_results &lt;- </a:t>
            </a:r>
            <a:r>
              <a:rPr>
                <a:solidFill>
                  <a:srgbClr val="4758AB"/>
                </a:solidFill>
                <a:latin typeface="Courier"/>
              </a:rPr>
              <a:t>coef</a:t>
            </a:r>
            <a:r>
              <a:rPr>
                <a:solidFill>
                  <a:srgbClr val="003B4F"/>
                </a:solidFill>
                <a:latin typeface="Courier"/>
              </a:rPr>
              <a:t>(</a:t>
            </a:r>
            <a:r>
              <a:rPr>
                <a:solidFill>
                  <a:srgbClr val="4758AB"/>
                </a:solidFill>
                <a:latin typeface="Courier"/>
              </a:rPr>
              <a:t>summary</a:t>
            </a:r>
            <a:r>
              <a:rPr>
                <a:solidFill>
                  <a:srgbClr val="003B4F"/>
                </a:solidFill>
                <a:latin typeface="Courier"/>
              </a:rPr>
              <a:t>(linear_model))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rownames_to_column</a:t>
            </a:r>
            <a:r>
              <a:rPr>
                <a:solidFill>
                  <a:srgbClr val="003B4F"/>
                </a:solidFill>
                <a:latin typeface="Courier"/>
              </a:rPr>
              <a:t>(</a:t>
            </a:r>
            <a:r>
              <a:rPr>
                <a:solidFill>
                  <a:srgbClr val="20794D"/>
                </a:solidFill>
                <a:latin typeface="Courier"/>
              </a:rPr>
              <a:t>"term"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br/>
            <a:r>
              <a:rPr>
                <a:solidFill>
                  <a:srgbClr val="003B4F"/>
                </a:solidFill>
                <a:latin typeface="Courier"/>
              </a:rPr>
              <a:t>    </a:t>
            </a:r>
            <a:r>
              <a:rPr>
                <a:solidFill>
                  <a:srgbClr val="657422"/>
                </a:solidFill>
                <a:latin typeface="Courier"/>
              </a:rPr>
              <a:t>estimate =</a:t>
            </a:r>
            <a:r>
              <a:rPr>
                <a:solidFill>
                  <a:srgbClr val="003B4F"/>
                </a:solidFill>
                <a:latin typeface="Courier"/>
              </a:rPr>
              <a:t> Estimate,</a:t>
            </a:r>
            <a:br/>
            <a:r>
              <a:rPr>
                <a:solidFill>
                  <a:srgbClr val="003B4F"/>
                </a:solidFill>
                <a:latin typeface="Courier"/>
              </a:rPr>
              <a:t>    </a:t>
            </a:r>
            <a:r>
              <a:rPr>
                <a:solidFill>
                  <a:srgbClr val="657422"/>
                </a:solidFill>
                <a:latin typeface="Courier"/>
              </a:rPr>
              <a:t>std_error =</a:t>
            </a:r>
            <a:r>
              <a:rPr>
                <a:solidFill>
                  <a:srgbClr val="003B4F"/>
                </a:solidFill>
                <a:latin typeface="Courier"/>
              </a:rPr>
              <a:t> </a:t>
            </a:r>
            <a:r>
              <a:rPr>
                <a:solidFill>
                  <a:srgbClr val="20794D"/>
                </a:solidFill>
                <a:latin typeface="Courier"/>
              </a:rPr>
              <a:t>`</a:t>
            </a:r>
            <a:r>
              <a:rPr>
                <a:solidFill>
                  <a:srgbClr val="657422"/>
                </a:solidFill>
                <a:latin typeface="Courier"/>
              </a:rPr>
              <a:t>Std. Error</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test_statistic =</a:t>
            </a:r>
            <a:r>
              <a:rPr>
                <a:solidFill>
                  <a:srgbClr val="003B4F"/>
                </a:solidFill>
                <a:latin typeface="Courier"/>
              </a:rPr>
              <a:t> </a:t>
            </a:r>
            <a:r>
              <a:rPr>
                <a:solidFill>
                  <a:srgbClr val="20794D"/>
                </a:solidFill>
                <a:latin typeface="Courier"/>
              </a:rPr>
              <a:t>`</a:t>
            </a:r>
            <a:r>
              <a:rPr>
                <a:solidFill>
                  <a:srgbClr val="657422"/>
                </a:solidFill>
                <a:latin typeface="Courier"/>
              </a:rPr>
              <a:t>t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20794D"/>
                </a:solidFill>
                <a:latin typeface="Courier"/>
              </a:rPr>
              <a:t>`</a:t>
            </a:r>
            <a:r>
              <a:rPr>
                <a:solidFill>
                  <a:srgbClr val="657422"/>
                </a:solidFill>
                <a:latin typeface="Courier"/>
              </a:rPr>
              <a:t>Pr(&gt;|t|)</a:t>
            </a:r>
            <a:r>
              <a:rPr>
                <a:solidFill>
                  <a:srgbClr val="20794D"/>
                </a:solidFill>
                <a:latin typeface="Courier"/>
              </a:rPr>
              <a:t>`</a:t>
            </a:r>
            <a:br/>
            <a:r>
              <a:rPr>
                <a:solidFill>
                  <a:srgbClr val="003B4F"/>
                </a:solidFill>
                <a:latin typeface="Courier"/>
              </a:rPr>
              <a:t>  )</a:t>
            </a:r>
            <a:br/>
            <a:br/>
            <a:r>
              <a:rPr>
                <a:solidFill>
                  <a:srgbClr val="003B4F"/>
                </a:solidFill>
                <a:latin typeface="Courier"/>
              </a:rPr>
              <a:t>linear_results</a:t>
            </a:r>
          </a:p>
          <a:p>
            <a:pPr lvl="0" indent="0">
              <a:buNone/>
            </a:pPr>
            <a:r>
              <a:rPr>
                <a:latin typeface="Courier"/>
              </a:rPr>
              <a:t># A tibble: 5 × 5
  term            estimate std_error test_statistic   p_value
  &lt;chr&gt;              &lt;dbl&gt;     &lt;dbl&gt;          &lt;dbl&gt;     &lt;dbl&gt;
1 (Intercept)       2.91      1.03             2.83 4.86e-  3
2 stage_num         4.28      0.141           30.4  1.12e-107
3 age               0.0388    0.0152           2.56 1.09e-  2
4 mutation_binary   3.09      0.304           10.2  8.98e- 22
5 baseline_burden   0.190     0.0237           8.01 1.13e- 14</a:t>
            </a:r>
          </a:p>
          <a:p>
            <a:pPr lvl="0" indent="0" marL="0">
              <a:buNone/>
            </a:pPr>
            <a:r>
              <a:rPr/>
              <a:t>For each coefficient, the output includes:</a:t>
            </a:r>
          </a:p>
          <a:p>
            <a:pPr lvl="0"/>
            <a:r>
              <a:rPr b="1"/>
              <a:t>Estimate</a:t>
            </a:r>
            <a:r>
              <a:rPr/>
              <a:t>: estimated coefficient from the sample data</a:t>
            </a:r>
          </a:p>
          <a:p>
            <a:pPr lvl="0"/>
            <a:r>
              <a:rPr b="1"/>
              <a:t>Std. Error</a:t>
            </a:r>
            <a:r>
              <a:rPr/>
              <a:t>: estimated sampling variability of the coefficient</a:t>
            </a:r>
          </a:p>
          <a:p>
            <a:pPr lvl="0"/>
            <a:r>
              <a:rPr b="1"/>
              <a:t>t value</a:t>
            </a:r>
            <a:r>
              <a:rPr/>
              <a:t>: coefficient divided by its standard error</a:t>
            </a:r>
          </a:p>
          <a:p>
            <a:pPr lvl="0"/>
            <a:r>
              <a:rPr b="1"/>
              <a:t>Pr(&gt;|t|)</a:t>
            </a:r>
            <a:r>
              <a:rPr/>
              <a:t>: P-value for the two-sided coefficient test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Evaluate Linear Regression Results</a:t>
            </a:r>
          </a:p>
          <a:p>
            <a:pPr lvl="0" indent="0">
              <a:buNone/>
            </a:pPr>
            <a:r>
              <a:rPr>
                <a:solidFill>
                  <a:srgbClr val="003B4F"/>
                </a:solidFill>
                <a:latin typeface="Courier"/>
              </a:rPr>
              <a:t>linear_results &lt;- </a:t>
            </a:r>
            <a:r>
              <a:rPr>
                <a:solidFill>
                  <a:srgbClr val="4758AB"/>
                </a:solidFill>
                <a:latin typeface="Courier"/>
              </a:rPr>
              <a:t>coef</a:t>
            </a:r>
            <a:r>
              <a:rPr>
                <a:solidFill>
                  <a:srgbClr val="003B4F"/>
                </a:solidFill>
                <a:latin typeface="Courier"/>
              </a:rPr>
              <a:t>(</a:t>
            </a:r>
            <a:r>
              <a:rPr>
                <a:solidFill>
                  <a:srgbClr val="4758AB"/>
                </a:solidFill>
                <a:latin typeface="Courier"/>
              </a:rPr>
              <a:t>summary</a:t>
            </a:r>
            <a:r>
              <a:rPr>
                <a:solidFill>
                  <a:srgbClr val="003B4F"/>
                </a:solidFill>
                <a:latin typeface="Courier"/>
              </a:rPr>
              <a:t>(linear_model))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rownames_to_column</a:t>
            </a:r>
            <a:r>
              <a:rPr>
                <a:solidFill>
                  <a:srgbClr val="003B4F"/>
                </a:solidFill>
                <a:latin typeface="Courier"/>
              </a:rPr>
              <a:t>(</a:t>
            </a:r>
            <a:r>
              <a:rPr>
                <a:solidFill>
                  <a:srgbClr val="20794D"/>
                </a:solidFill>
                <a:latin typeface="Courier"/>
              </a:rPr>
              <a:t>"term"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br/>
            <a:r>
              <a:rPr>
                <a:solidFill>
                  <a:srgbClr val="003B4F"/>
                </a:solidFill>
                <a:latin typeface="Courier"/>
              </a:rPr>
              <a:t>    </a:t>
            </a:r>
            <a:r>
              <a:rPr>
                <a:solidFill>
                  <a:srgbClr val="657422"/>
                </a:solidFill>
                <a:latin typeface="Courier"/>
              </a:rPr>
              <a:t>estimate =</a:t>
            </a:r>
            <a:r>
              <a:rPr>
                <a:solidFill>
                  <a:srgbClr val="003B4F"/>
                </a:solidFill>
                <a:latin typeface="Courier"/>
              </a:rPr>
              <a:t> Estimate,</a:t>
            </a:r>
            <a:br/>
            <a:r>
              <a:rPr>
                <a:solidFill>
                  <a:srgbClr val="003B4F"/>
                </a:solidFill>
                <a:latin typeface="Courier"/>
              </a:rPr>
              <a:t>    </a:t>
            </a:r>
            <a:r>
              <a:rPr>
                <a:solidFill>
                  <a:srgbClr val="657422"/>
                </a:solidFill>
                <a:latin typeface="Courier"/>
              </a:rPr>
              <a:t>std_error =</a:t>
            </a:r>
            <a:r>
              <a:rPr>
                <a:solidFill>
                  <a:srgbClr val="003B4F"/>
                </a:solidFill>
                <a:latin typeface="Courier"/>
              </a:rPr>
              <a:t> </a:t>
            </a:r>
            <a:r>
              <a:rPr>
                <a:solidFill>
                  <a:srgbClr val="20794D"/>
                </a:solidFill>
                <a:latin typeface="Courier"/>
              </a:rPr>
              <a:t>`</a:t>
            </a:r>
            <a:r>
              <a:rPr>
                <a:solidFill>
                  <a:srgbClr val="657422"/>
                </a:solidFill>
                <a:latin typeface="Courier"/>
              </a:rPr>
              <a:t>Std. Error</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test_statistic =</a:t>
            </a:r>
            <a:r>
              <a:rPr>
                <a:solidFill>
                  <a:srgbClr val="003B4F"/>
                </a:solidFill>
                <a:latin typeface="Courier"/>
              </a:rPr>
              <a:t> </a:t>
            </a:r>
            <a:r>
              <a:rPr>
                <a:solidFill>
                  <a:srgbClr val="20794D"/>
                </a:solidFill>
                <a:latin typeface="Courier"/>
              </a:rPr>
              <a:t>`</a:t>
            </a:r>
            <a:r>
              <a:rPr>
                <a:solidFill>
                  <a:srgbClr val="657422"/>
                </a:solidFill>
                <a:latin typeface="Courier"/>
              </a:rPr>
              <a:t>t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20794D"/>
                </a:solidFill>
                <a:latin typeface="Courier"/>
              </a:rPr>
              <a:t>`</a:t>
            </a:r>
            <a:r>
              <a:rPr>
                <a:solidFill>
                  <a:srgbClr val="657422"/>
                </a:solidFill>
                <a:latin typeface="Courier"/>
              </a:rPr>
              <a:t>Pr(&gt;|t|)</a:t>
            </a:r>
            <a:r>
              <a:rPr>
                <a:solidFill>
                  <a:srgbClr val="20794D"/>
                </a:solidFill>
                <a:latin typeface="Courier"/>
              </a:rPr>
              <a:t>`</a:t>
            </a:r>
            <a:br/>
            <a:r>
              <a:rPr>
                <a:solidFill>
                  <a:srgbClr val="003B4F"/>
                </a:solidFill>
                <a:latin typeface="Courier"/>
              </a:rPr>
              <a:t>  )</a:t>
            </a:r>
            <a:br/>
            <a:br/>
            <a:r>
              <a:rPr>
                <a:solidFill>
                  <a:srgbClr val="003B4F"/>
                </a:solidFill>
                <a:latin typeface="Courier"/>
              </a:rPr>
              <a:t>linear_results</a:t>
            </a:r>
          </a:p>
          <a:p>
            <a:pPr lvl="0" indent="0">
              <a:buNone/>
            </a:pPr>
            <a:r>
              <a:rPr>
                <a:latin typeface="Courier"/>
              </a:rPr>
              <a:t># A tibble: 5 × 5
  term            estimate std_error test_statistic   p_value
  &lt;chr&gt;              &lt;dbl&gt;     &lt;dbl&gt;          &lt;dbl&gt;     &lt;dbl&gt;
1 (Intercept)       2.91      1.03             2.83 4.86e-  3
2 stage_num         4.28      0.141           30.4  1.12e-107
3 age               0.0388    0.0152           2.56 1.09e-  2
4 mutation_binary   3.09      0.304           10.2  8.98e- 22
5 baseline_burden   0.190     0.0237           8.01 1.13e- 14</a:t>
            </a:r>
          </a:p>
          <a:p>
            <a:pPr lvl="0" indent="0" marL="0">
              <a:buNone/>
            </a:pPr>
            <a:r>
              <a:rPr b="1"/>
              <a:t>Example Interpretation</a:t>
            </a:r>
            <a:r>
              <a:rPr/>
              <a:t>:</a:t>
            </a:r>
          </a:p>
          <a:p>
            <a:pPr lvl="0"/>
            <a:r>
              <a:rPr/>
              <a:t>coefficient for </a:t>
            </a:r>
            <a:r>
              <a:rPr>
                <a:latin typeface="Courier"/>
              </a:rPr>
              <a:t>stage_num</a:t>
            </a:r>
            <a:r>
              <a:rPr/>
              <a:t> estimates the expected difference in tumor biomarker level associated with a one-stage increase in tumor stage</a:t>
            </a:r>
          </a:p>
          <a:p>
            <a:pPr lvl="0"/>
            <a:r>
              <a:rPr/>
              <a:t>positive coefficient : later tumor stage is associated with a higher expected tumor marker level</a:t>
            </a:r>
          </a:p>
          <a:p>
            <a:pPr lvl="0"/>
            <a:r>
              <a:rPr>
                <a:latin typeface="Courier"/>
              </a:rPr>
              <a:t>stage_num</a:t>
            </a:r>
            <a:r>
              <a:rPr/>
              <a:t>: p-value evaluates whether the observed stage coefficient is unlikely under the null hypothesis that the population coefficient is zero</a:t>
            </a:r>
          </a:p>
          <a:p>
            <a:pPr lvl="0"/>
            <a:r>
              <a:rPr/>
              <a:t>small p-value suggests the observed relationship between the predictor and biomarker level is unlikely to be due to random sampling variability alone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Logistic Regression: Practical Application</a:t>
            </a:r>
          </a:p>
          <a:p>
            <a:pPr lvl="0" indent="0" marL="0">
              <a:buNone/>
            </a:pPr>
            <a:r>
              <a:rPr/>
              <a:t>Logistic regression is used when the outcome variable has only two possible categories</a:t>
            </a:r>
          </a:p>
          <a:p>
            <a:pPr lvl="0" indent="0" marL="0">
              <a:buNone/>
            </a:pPr>
            <a:r>
              <a:rPr/>
              <a:t>Here we address:</a:t>
            </a:r>
          </a:p>
          <a:p>
            <a:pPr lvl="0" indent="0" marL="1270000">
              <a:buNone/>
            </a:pPr>
            <a:r>
              <a:rPr sz="2000"/>
              <a:t>After accounting for tumor stage, age, and baseline disease burden, is mutation status associated with higher or lower odds of treatment response?</a:t>
            </a:r>
          </a:p>
          <a:p>
            <a:pPr lvl="0" indent="0" marL="0">
              <a:buNone/>
            </a:pPr>
            <a:r>
              <a:rPr/>
              <a:t>In this study, the outcome is treatment response [</a:t>
            </a:r>
            <a:r>
              <a:rPr>
                <a:latin typeface="Courier"/>
              </a:rPr>
              <a:t>response_label</a:t>
            </a:r>
            <a:r>
              <a:rPr/>
              <a:t>]:</a:t>
            </a:r>
          </a:p>
          <a:p>
            <a:pPr lvl="0" indent="0" marL="0">
              <a:buNone/>
            </a:pPr>
            <a:r>
              <a:rPr/>
              <a:t>1 : response</a:t>
            </a:r>
          </a:p>
          <a:p>
            <a:pPr lvl="0" indent="0" marL="0">
              <a:buNone/>
            </a:pPr>
            <a:r>
              <a:rPr/>
              <a:t>0 : no response</a:t>
            </a:r>
          </a:p>
          <a:p>
            <a:pPr lvl="0" indent="0" marL="0">
              <a:buNone/>
            </a:pPr>
            <a:r>
              <a:rPr/>
              <a:t>Note:</a:t>
            </a:r>
          </a:p>
          <a:p>
            <a:pPr lvl="0"/>
            <a:r>
              <a:rPr/>
              <a:t>positive regression coefficients correspond to higher odds of response</a:t>
            </a:r>
          </a:p>
          <a:p>
            <a:pPr lvl="0"/>
            <a:r>
              <a:rPr/>
              <a:t>negative regression coefficients correspond to lower odds of response</a:t>
            </a:r>
          </a:p>
          <a:p>
            <a:pPr lvl="0"/>
            <a:r>
              <a:rPr/>
              <a:t>hypothesis tests and p-values evaluate whether the observed associations are likely to reflect true association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Logistic Regression Model</a:t>
                </a:r>
              </a:p>
              <a:p>
                <a:pPr lvl="0" indent="0" marL="0">
                  <a:buNone/>
                </a:pPr>
                <a:r>
                  <a:rPr/>
                  <a:t>logistic regression formula states that the log-odds of the binary outcome are modeled as a linear function of the predictors:</a:t>
                </a:r>
              </a:p>
              <a:p>
                <a:pPr lvl="0" indent="0" marL="0">
                  <a:buNone/>
                </a:pPr>
                <a14:m>
                  <m:oMathPara xmlns:m="http://schemas.openxmlformats.org/officeDocument/2006/math">
                    <m:oMathParaPr>
                      <m:jc m:val="center"/>
                    </m:oMathParaPr>
                    <m:oMath>
                      <m:r>
                        <m:rPr>
                          <m:sty m:val="p"/>
                        </m:rPr>
                        <m:t>log</m:t>
                      </m:r>
                      <m:d>
                        <m:dPr>
                          <m:begChr m:val="("/>
                          <m:sepChr m:val=""/>
                          <m:endChr m:val=")"/>
                          <m:grow/>
                        </m:dPr>
                        <m:e>
                          <m:f>
                            <m:fPr>
                              <m:type m:val="bar"/>
                            </m:fPr>
                            <m:num>
                              <m:r>
                                <m:t>p</m:t>
                              </m:r>
                            </m:num>
                            <m:den>
                              <m:r>
                                <m:t>1</m:t>
                              </m:r>
                              <m:r>
                                <m:rPr>
                                  <m:sty m:val="p"/>
                                </m:rPr>
                                <m:t>−</m:t>
                              </m:r>
                              <m:r>
                                <m:t>p</m:t>
                              </m:r>
                            </m:den>
                          </m:f>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sSub>
                        <m:e>
                          <m:r>
                            <m:t>β</m:t>
                          </m:r>
                        </m:e>
                        <m:sub>
                          <m:r>
                            <m:t>3</m:t>
                          </m:r>
                        </m:sub>
                      </m:sSub>
                      <m:sSub>
                        <m:e>
                          <m:r>
                            <m:t>X</m:t>
                          </m:r>
                        </m:e>
                        <m:sub>
                          <m:r>
                            <m:t>3</m:t>
                          </m:r>
                        </m:sub>
                      </m:sSub>
                      <m:r>
                        <m:rPr>
                          <m:sty m:val="p"/>
                        </m:rPr>
                        <m:t>+</m:t>
                      </m:r>
                      <m:sSub>
                        <m:e>
                          <m:r>
                            <m:t>β</m:t>
                          </m:r>
                        </m:e>
                        <m:sub>
                          <m:r>
                            <m:t>4</m:t>
                          </m:r>
                        </m:sub>
                      </m:sSub>
                      <m:sSub>
                        <m:e>
                          <m:r>
                            <m:t>X</m:t>
                          </m:r>
                        </m:e>
                        <m:sub>
                          <m:r>
                            <m:t>4</m:t>
                          </m:r>
                        </m:sub>
                      </m:sSub>
                    </m:oMath>
                  </m:oMathPara>
                </a14:m>
              </a:p>
              <a:p>
                <a:pPr lvl="0" indent="0" marL="0">
                  <a:buNone/>
                </a:pPr>
                <a:r>
                  <a:rPr/>
                  <a:t>Where:</a:t>
                </a:r>
              </a:p>
              <a:p>
                <a:pPr lvl="0"/>
                <a14:m>
                  <m:oMath xmlns:m="http://schemas.openxmlformats.org/officeDocument/2006/math">
                    <m:r>
                      <m:t>p</m:t>
                    </m:r>
                  </m:oMath>
                </a14:m>
                <a:r>
                  <a:rPr/>
                  <a:t> : probability of treatment response</a:t>
                </a:r>
              </a:p>
              <a:p>
                <a:pPr lvl="0"/>
                <a14:m>
                  <m:oMath xmlns:m="http://schemas.openxmlformats.org/officeDocument/2006/math">
                    <m:r>
                      <m:t>1</m:t>
                    </m:r>
                    <m:r>
                      <m:rPr>
                        <m:sty m:val="p"/>
                      </m:rPr>
                      <m:t>−</m:t>
                    </m:r>
                    <m:r>
                      <m:t>p</m:t>
                    </m:r>
                  </m:oMath>
                </a14:m>
                <a:r>
                  <a:rPr/>
                  <a:t> : probability of no response</a:t>
                </a:r>
              </a:p>
              <a:p>
                <a:pPr lvl="0"/>
                <a14:m>
                  <m:oMath xmlns:m="http://schemas.openxmlformats.org/officeDocument/2006/math">
                    <m:f>
                      <m:fPr>
                        <m:type m:val="bar"/>
                      </m:fPr>
                      <m:num>
                        <m:r>
                          <m:t>p</m:t>
                        </m:r>
                      </m:num>
                      <m:den>
                        <m:r>
                          <m:t>1</m:t>
                        </m:r>
                        <m:r>
                          <m:rPr>
                            <m:sty m:val="p"/>
                          </m:rPr>
                          <m:t>−</m:t>
                        </m:r>
                        <m:r>
                          <m:t>p</m:t>
                        </m:r>
                      </m:den>
                    </m:f>
                  </m:oMath>
                </a14:m>
                <a:r>
                  <a:rPr/>
                  <a:t> : odds of response</a:t>
                </a:r>
              </a:p>
              <a:p>
                <a:pPr lvl="0"/>
                <a14:m>
                  <m:oMath xmlns:m="http://schemas.openxmlformats.org/officeDocument/2006/math">
                    <m:r>
                      <m:rPr>
                        <m:sty m:val="p"/>
                      </m:rPr>
                      <m:t>log</m:t>
                    </m:r>
                    <m:d>
                      <m:dPr>
                        <m:begChr m:val="("/>
                        <m:sepChr m:val=""/>
                        <m:endChr m:val=")"/>
                        <m:grow/>
                      </m:dPr>
                      <m:e>
                        <m:f>
                          <m:fPr>
                            <m:type m:val="bar"/>
                          </m:fPr>
                          <m:num>
                            <m:r>
                              <m:t>p</m:t>
                            </m:r>
                          </m:num>
                          <m:den>
                            <m:r>
                              <m:t>1</m:t>
                            </m:r>
                            <m:r>
                              <m:rPr>
                                <m:sty m:val="p"/>
                              </m:rPr>
                              <m:t>−</m:t>
                            </m:r>
                            <m:r>
                              <m:t>p</m:t>
                            </m:r>
                          </m:den>
                        </m:f>
                      </m:e>
                    </m:d>
                  </m:oMath>
                </a14:m>
                <a:r>
                  <a:rPr/>
                  <a:t> : log-odds of response</a:t>
                </a:r>
              </a:p>
              <a:p>
                <a:pPr lvl="0"/>
                <a14:m>
                  <m:oMath xmlns:m="http://schemas.openxmlformats.org/officeDocument/2006/math">
                    <m:sSub>
                      <m:e>
                        <m:r>
                          <m:t>β</m:t>
                        </m:r>
                      </m:e>
                      <m:sub>
                        <m:r>
                          <m:t>1</m:t>
                        </m:r>
                      </m:sub>
                    </m:sSub>
                  </m:oMath>
                </a14:m>
                <a:r>
                  <a:rPr/>
                  <a:t> : change in log-odds associated with the predictor, holding other variables constant.</a:t>
                </a:r>
              </a:p>
              <a:p>
                <a:pPr lvl="0" indent="0" marL="0">
                  <a:buNone/>
                </a:pPr>
                <a:r>
                  <a:rPr/>
                  <a:t>Note: log-odds are difficult to interpret directly therefore logistic regression coefficients are often exponentiated to produce odds ratios</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Odds Ratio Interpretation</a:t>
                </a:r>
              </a:p>
              <a:p>
                <a:pPr lvl="0" indent="0" marL="0">
                  <a:buNone/>
                </a:pPr>
                <a:r>
                  <a:rPr/>
                  <a:t>Exponentiating a logistic regression coefficient converts the estimate from the log-odds scale to the odds-ratio scale</a:t>
                </a:r>
              </a:p>
              <a:p>
                <a:pPr lvl="0" indent="0" marL="0">
                  <a:buNone/>
                </a:pPr>
                <a14:m>
                  <m:oMathPara xmlns:m="http://schemas.openxmlformats.org/officeDocument/2006/math">
                    <m:oMathParaPr>
                      <m:jc m:val="center"/>
                    </m:oMathParaPr>
                    <m:oMath>
                      <m:r>
                        <m:t>O</m:t>
                      </m:r>
                      <m:r>
                        <m:t>R</m:t>
                      </m:r>
                      <m:r>
                        <m:rPr>
                          <m:sty m:val="p"/>
                        </m:rPr>
                        <m:t>=</m:t>
                      </m:r>
                      <m:sSup>
                        <m:e>
                          <m:r>
                            <m:t>e</m:t>
                          </m:r>
                        </m:e>
                        <m:sup>
                          <m:acc>
                            <m:accPr>
                              <m:chr m:val="̂"/>
                            </m:accPr>
                            <m:e>
                              <m:r>
                                <m:t>β</m:t>
                              </m:r>
                            </m:e>
                          </m:acc>
                        </m:sup>
                      </m:sSup>
                    </m:oMath>
                  </m:oMathPara>
                </a14:m>
              </a:p>
              <a:p>
                <a:pPr lvl="0" indent="0" marL="0">
                  <a:buNone/>
                </a:pPr>
                <a:r>
                  <a:rPr/>
                  <a:t>Example:</a:t>
                </a:r>
              </a:p>
              <a:p>
                <a:pPr lvl="0" indent="0" marL="0">
                  <a:buNone/>
                </a:pPr>
                <a:r>
                  <a:rPr/>
                  <a:t>For mutation status, the odds ratio compares the odds of response for patients with mutation present to patients with mutation absent, holding tumor stage, age, and baseline disease burden constant</a:t>
                </a:r>
              </a:p>
            </p:txBody>
          </p:sp>
        </mc:Choice>
      </mc:AlternateContent>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Interpreting Odds Ratios</a:t>
            </a:r>
          </a:p>
          <a:p>
            <a:pPr lvl="0"/>
            <a:r>
              <a:rPr/>
              <a:t>odds ratio = 1 : no difference in odds</a:t>
            </a:r>
          </a:p>
          <a:p>
            <a:pPr lvl="0"/>
            <a:r>
              <a:rPr/>
              <a:t>odds ratio &gt; 1 : predictor is associated with higher odds of the outcome</a:t>
            </a:r>
          </a:p>
          <a:p>
            <a:pPr lvl="0"/>
            <a:r>
              <a:rPr/>
              <a:t>odds ratio &lt; 1 : predictor is associated with lower odds of the outcome</a:t>
            </a:r>
          </a:p>
          <a:p>
            <a:pPr lvl="0"/>
            <a:r>
              <a:rPr/>
              <a:t>hypothesis test evaluates whether the coefficient equals zero on the log-odds scale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 Regression Hypothesis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Coefficient of interest mutation status </a:t>
                </a:r>
                <a14:m>
                  <m:oMath xmlns:m="http://schemas.openxmlformats.org/officeDocument/2006/math">
                    <m:sSub>
                      <m:e>
                        <m:r>
                          <m:t>β</m:t>
                        </m:r>
                      </m:e>
                      <m:sub>
                        <m:r>
                          <m:rPr>
                            <m:nor/>
                            <m:sty m:val="p"/>
                          </m:rPr>
                          <m:t>mutation</m:t>
                        </m:r>
                      </m:sub>
                    </m:sSub>
                  </m:oMath>
                </a14:m>
              </a:p>
              <a:p>
                <a:pPr lvl="0" indent="0" marL="0">
                  <a:buNone/>
                </a:pPr>
                <a:r>
                  <a:rPr/>
                  <a:t>Hypothesis test evaluates whether mutation status is associated with treatment response after adjusting for other covariates [tumor stage, age, and baseline disease burden]</a:t>
                </a:r>
              </a:p>
              <a:p>
                <a:pPr lvl="0" indent="0" marL="0">
                  <a:buNone/>
                </a:pPr>
                <a:r>
                  <a:rPr/>
                  <a:t>Null hypothesis:</a:t>
                </a:r>
              </a:p>
              <a:p>
                <a:pPr lvl="0" indent="0" marL="0">
                  <a:buNone/>
                </a:pPr>
                <a14:m>
                  <m:oMathPara xmlns:m="http://schemas.openxmlformats.org/officeDocument/2006/math">
                    <m:oMathParaPr>
                      <m:jc m:val="center"/>
                    </m:oMathParaPr>
                    <m:oMath>
                      <m:sSub>
                        <m:e>
                          <m:r>
                            <m:t>H</m:t>
                          </m:r>
                        </m:e>
                        <m:sub>
                          <m:r>
                            <m:t>0</m:t>
                          </m:r>
                        </m:sub>
                      </m:sSub>
                      <m:r>
                        <m:rPr>
                          <m:sty m:val="p"/>
                        </m:rPr>
                        <m:t>:</m:t>
                      </m:r>
                      <m:sSub>
                        <m:e>
                          <m:r>
                            <m:t>β</m:t>
                          </m:r>
                        </m:e>
                        <m:sub>
                          <m:r>
                            <m:t>m</m:t>
                          </m:r>
                          <m:r>
                            <m:t>u</m:t>
                          </m:r>
                          <m:r>
                            <m:t>t</m:t>
                          </m:r>
                          <m:r>
                            <m:t>a</m:t>
                          </m:r>
                          <m:r>
                            <m:t>t</m:t>
                          </m:r>
                          <m:r>
                            <m:t>i</m:t>
                          </m:r>
                          <m:r>
                            <m:t>o</m:t>
                          </m:r>
                          <m:r>
                            <m:t>n</m:t>
                          </m:r>
                        </m:sub>
                      </m:sSub>
                      <m:r>
                        <m:rPr>
                          <m:sty m:val="p"/>
                        </m:rPr>
                        <m:t>=</m:t>
                      </m:r>
                      <m:r>
                        <m:t>0</m:t>
                      </m:r>
                    </m:oMath>
                  </m:oMathPara>
                </a14:m>
              </a:p>
              <a:p>
                <a:pPr lvl="0" indent="0" marL="0">
                  <a:buNone/>
                </a:pPr>
                <a:r>
                  <a:rPr/>
                  <a:t>Alternative hypothesis:</a:t>
                </a:r>
              </a:p>
              <a:p>
                <a:pPr lvl="0" indent="0" marL="0">
                  <a:buNone/>
                </a:pPr>
                <a14:m>
                  <m:oMathPara xmlns:m="http://schemas.openxmlformats.org/officeDocument/2006/math">
                    <m:oMathParaPr>
                      <m:jc m:val="center"/>
                    </m:oMathParaPr>
                    <m:oMath>
                      <m:sSub>
                        <m:e>
                          <m:r>
                            <m:t>H</m:t>
                          </m:r>
                        </m:e>
                        <m:sub>
                          <m:r>
                            <m:t>a</m:t>
                          </m:r>
                        </m:sub>
                      </m:sSub>
                      <m:r>
                        <m:rPr>
                          <m:sty m:val="p"/>
                        </m:rPr>
                        <m:t>:</m:t>
                      </m:r>
                      <m:sSub>
                        <m:e>
                          <m:r>
                            <m:t>β</m:t>
                          </m:r>
                        </m:e>
                        <m:sub>
                          <m:r>
                            <m:t>m</m:t>
                          </m:r>
                          <m:r>
                            <m:t>u</m:t>
                          </m:r>
                          <m:r>
                            <m:t>t</m:t>
                          </m:r>
                          <m:r>
                            <m:t>a</m:t>
                          </m:r>
                          <m:r>
                            <m:t>t</m:t>
                          </m:r>
                          <m:r>
                            <m:t>i</m:t>
                          </m:r>
                          <m:r>
                            <m:t>o</m:t>
                          </m:r>
                          <m:r>
                            <m:t>n</m:t>
                          </m:r>
                        </m:sub>
                      </m:sSub>
                      <m:r>
                        <m:rPr>
                          <m:sty m:val="p"/>
                        </m:rPr>
                        <m:t>≠</m:t>
                      </m:r>
                      <m:r>
                        <m:t>0</m:t>
                      </m:r>
                    </m:oMath>
                  </m:oMathPara>
                </a14:m>
              </a:p>
              <a:p>
                <a:pPr lvl="0" indent="0" marL="0">
                  <a:buNone/>
                </a:pPr>
                <a:r>
                  <a:rPr/>
                  <a:t>Interpretation:</a:t>
                </a:r>
              </a:p>
              <a:p>
                <a:pPr lvl="0"/>
                <a:r>
                  <a:rPr/>
                  <a:t>under </a:t>
                </a:r>
                <a14:m>
                  <m:oMath xmlns:m="http://schemas.openxmlformats.org/officeDocument/2006/math">
                    <m:sSub>
                      <m:e>
                        <m:r>
                          <m:t>H</m:t>
                        </m:r>
                      </m:e>
                      <m:sub>
                        <m:r>
                          <m:t>0</m:t>
                        </m:r>
                      </m:sub>
                    </m:sSub>
                  </m:oMath>
                </a14:m>
                <a:r>
                  <a:rPr/>
                  <a:t>: mutation status has no association with the odds of response after adjustment for other variables</a:t>
                </a:r>
              </a:p>
              <a:p>
                <a:pPr lvl="0"/>
                <a:r>
                  <a:rPr/>
                  <a:t>small p-value provides evidence that mutation status is associated with different odds of treatment response in the population</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Fit the Logistic Regression Model</a:t>
            </a:r>
          </a:p>
          <a:p>
            <a:pPr lvl="0" indent="0">
              <a:buNone/>
            </a:pPr>
            <a:r>
              <a:rPr>
                <a:solidFill>
                  <a:srgbClr val="003B4F"/>
                </a:solidFill>
                <a:latin typeface="Courier"/>
              </a:rPr>
              <a:t>logistic_model &lt;- </a:t>
            </a:r>
            <a:r>
              <a:rPr>
                <a:solidFill>
                  <a:srgbClr val="4758AB"/>
                </a:solidFill>
                <a:latin typeface="Courier"/>
              </a:rPr>
              <a:t>glm</a:t>
            </a:r>
            <a:r>
              <a:rPr>
                <a:solidFill>
                  <a:srgbClr val="003B4F"/>
                </a:solidFill>
                <a:latin typeface="Courier"/>
              </a:rPr>
              <a:t>(</a:t>
            </a:r>
            <a:br/>
            <a:r>
              <a:rPr>
                <a:solidFill>
                  <a:srgbClr val="003B4F"/>
                </a:solidFill>
                <a:latin typeface="Courier"/>
              </a:rPr>
              <a:t>  response </a:t>
            </a:r>
            <a:r>
              <a:rPr>
                <a:solidFill>
                  <a:srgbClr val="5E5E5E"/>
                </a:solidFill>
                <a:latin typeface="Courier"/>
              </a:rPr>
              <a:t>~</a:t>
            </a:r>
            <a:r>
              <a:rPr>
                <a:solidFill>
                  <a:srgbClr val="003B4F"/>
                </a:solidFill>
                <a:latin typeface="Courier"/>
              </a:rPr>
              <a:t> mutation_binary </a:t>
            </a:r>
            <a:r>
              <a:rPr>
                <a:solidFill>
                  <a:srgbClr val="5E5E5E"/>
                </a:solidFill>
                <a:latin typeface="Courier"/>
              </a:rPr>
              <a:t>+</a:t>
            </a:r>
            <a:r>
              <a:rPr>
                <a:solidFill>
                  <a:srgbClr val="003B4F"/>
                </a:solidFill>
                <a:latin typeface="Courier"/>
              </a:rPr>
              <a:t> stage_num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baseline_burden,</a:t>
            </a:r>
            <a:br/>
            <a:r>
              <a:rPr>
                <a:solidFill>
                  <a:srgbClr val="003B4F"/>
                </a:solidFill>
                <a:latin typeface="Courier"/>
              </a:rPr>
              <a:t>  </a:t>
            </a:r>
            <a:r>
              <a:rPr>
                <a:solidFill>
                  <a:srgbClr val="657422"/>
                </a:solidFill>
                <a:latin typeface="Courier"/>
              </a:rPr>
              <a:t>data =</a:t>
            </a:r>
            <a:r>
              <a:rPr>
                <a:solidFill>
                  <a:srgbClr val="003B4F"/>
                </a:solidFill>
                <a:latin typeface="Courier"/>
              </a:rPr>
              <a:t> cancer_df,</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4758AB"/>
                </a:solidFill>
                <a:latin typeface="Courier"/>
              </a:rPr>
              <a:t>summary</a:t>
            </a:r>
            <a:r>
              <a:rPr>
                <a:solidFill>
                  <a:srgbClr val="003B4F"/>
                </a:solidFill>
                <a:latin typeface="Courier"/>
              </a:rPr>
              <a:t>(logistic_model)</a:t>
            </a:r>
          </a:p>
          <a:p>
            <a:pPr lvl="0" indent="0">
              <a:buNone/>
            </a:pPr>
            <a:r>
              <a:rPr>
                <a:latin typeface="Courier"/>
              </a:rPr>
              <a:t>
Call:
glm(formula = response ~ mutation_binary + stage_num + age + 
    baseline_burden, family = binomial, data = cancer_df)
Coefficients:
                 Estimate Std. Error z value Pr(&gt;|z|)    
(Intercept)      1.225953   0.749141   1.636 0.101739    
mutation_binary -0.774346   0.229517  -3.374 0.000741 ***
stage_num       -0.543154   0.107086  -5.072 3.93e-07 ***
age              0.001537   0.011059   0.139 0.889442    
baseline_burden -0.012160   0.017276  -0.704 0.481506    
---
Signif. codes:  0 '***' 0.001 '**' 0.01 '*' 0.05 '.' 0.1 ' ' 1
(Dispersion parameter for binomial family taken to be 1)
    Null deviance: 571.83  on 419  degrees of freedom
Residual deviance: 532.29  on 415  degrees of freedom
AIC: 542.29
Number of Fisher Scoring iterations: 4</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Evaluate Logistic Regression Results</a:t>
            </a:r>
          </a:p>
          <a:p>
            <a:pPr lvl="0" indent="0">
              <a:buNone/>
            </a:pPr>
            <a:r>
              <a:rPr>
                <a:latin typeface="Courier"/>
              </a:rPr>
              <a:t># A tibble: 5 × 6
  term            estimate_log_odds std_error z_statistic     p_value odds_ratio
  &lt;chr&gt;                       &lt;dbl&gt;     &lt;dbl&gt;       &lt;dbl&gt;       &lt;dbl&gt;      &lt;dbl&gt;
1 (Intercept)               1.23       0.749        1.64  0.102            3.41 
2 mutation_binary          -0.774      0.230       -3.37  0.000741         0.461
3 stage_num                -0.543      0.107       -5.07  0.000000393      0.581
4 age                       0.00154    0.0111       0.139 0.889            1.00 
5 baseline_burden          -0.0122     0.0173      -0.704 0.482            0.988</a:t>
            </a:r>
          </a:p>
          <a:p>
            <a:pPr lvl="0" indent="0" marL="0">
              <a:buNone/>
            </a:pPr>
            <a:r>
              <a:rPr/>
              <a:t>Output reports one row for each coefficient</a:t>
            </a:r>
          </a:p>
          <a:p>
            <a:pPr lvl="0" indent="0" marL="0">
              <a:buNone/>
            </a:pPr>
            <a:r>
              <a:rPr/>
              <a:t>For each coefficient:</a:t>
            </a:r>
          </a:p>
          <a:p>
            <a:pPr lvl="0"/>
            <a:r>
              <a:rPr b="1"/>
              <a:t>Estimate</a:t>
            </a:r>
            <a:r>
              <a:rPr/>
              <a:t>: estimated coefficient on the log-odds scale</a:t>
            </a:r>
          </a:p>
          <a:p>
            <a:pPr lvl="0"/>
            <a:r>
              <a:rPr b="1"/>
              <a:t>Std. Error</a:t>
            </a:r>
            <a:r>
              <a:rPr/>
              <a:t>: estimated sampling variability of the log-odds coefficient</a:t>
            </a:r>
          </a:p>
          <a:p>
            <a:pPr lvl="0"/>
            <a:r>
              <a:rPr b="1"/>
              <a:t>z value</a:t>
            </a:r>
            <a:r>
              <a:rPr/>
              <a:t>: coefficient divided by its standard error</a:t>
            </a:r>
          </a:p>
          <a:p>
            <a:pPr lvl="0"/>
            <a:r>
              <a:rPr b="1"/>
              <a:t>Pr(&gt;|z|)</a:t>
            </a:r>
            <a:r>
              <a:rPr/>
              <a:t>: p-value for the two-sided coefficient test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Evaluate Logistic Regression Results</a:t>
            </a:r>
          </a:p>
          <a:p>
            <a:pPr lvl="0" indent="0">
              <a:buNone/>
            </a:pPr>
            <a:r>
              <a:rPr>
                <a:latin typeface="Courier"/>
              </a:rPr>
              <a:t># A tibble: 5 × 6
  term            estimate_log_odds std_error z_statistic     p_value odds_ratio
  &lt;chr&gt;                       &lt;dbl&gt;     &lt;dbl&gt;       &lt;dbl&gt;       &lt;dbl&gt;      &lt;dbl&gt;
1 (Intercept)               1.23       0.749        1.64  0.102            3.41 
2 mutation_binary          -0.774      0.230       -3.37  0.000741         0.461
3 stage_num                -0.543      0.107       -5.07  0.000000393      0.581
4 age                       0.00154    0.0111       0.139 0.889            1.00 
5 baseline_burden          -0.0122     0.0173      -0.704 0.482            0.988</a:t>
            </a:r>
          </a:p>
          <a:p>
            <a:pPr lvl="0" indent="0" marL="0">
              <a:buNone/>
            </a:pPr>
            <a:r>
              <a:rPr b="1"/>
              <a:t>Interpretation</a:t>
            </a:r>
          </a:p>
          <a:p>
            <a:pPr lvl="0" indent="0" marL="0">
              <a:buNone/>
            </a:pPr>
            <a:r>
              <a:rPr/>
              <a:t>model estimates how each predictor is associated with the odds of treatment response while holding the remaining variables constant:</a:t>
            </a:r>
          </a:p>
          <a:p>
            <a:pPr lvl="0" indent="0" marL="0">
              <a:buNone/>
            </a:pPr>
            <a:r>
              <a:rPr/>
              <a:t>Mutation Status [</a:t>
            </a:r>
            <a:r>
              <a:rPr>
                <a:latin typeface="Courier"/>
              </a:rPr>
              <a:t>mutation_binary</a:t>
            </a:r>
            <a:r>
              <a:rPr/>
              <a:t>]</a:t>
            </a:r>
          </a:p>
          <a:p>
            <a:pPr lvl="0"/>
            <a:r>
              <a:rPr/>
              <a:t>estimated log-odds coefficient : -0.774</a:t>
            </a:r>
          </a:p>
          <a:p>
            <a:pPr lvl="0"/>
            <a:r>
              <a:rPr/>
              <a:t>odds ratio : 0.461</a:t>
            </a:r>
          </a:p>
          <a:p>
            <a:pPr lvl="0"/>
            <a:r>
              <a:rPr/>
              <a:t>p-value : 0.000741</a:t>
            </a:r>
          </a:p>
          <a:p>
            <a:pPr lvl="0" indent="0" marL="0">
              <a:buNone/>
            </a:pPr>
            <a:r>
              <a:rPr/>
              <a:t>patients with the mutation have approximately 54% lower odds of treatment response compared with patients without the mutation, after accounting for tumor stage, age, and baseline disease burden</a:t>
            </a:r>
          </a:p>
          <a:p>
            <a:pPr lvl="0" indent="0" marL="0">
              <a:buNone/>
            </a:pPr>
            <a:r>
              <a:rPr/>
              <a:t>small p-value provides strong evidence that the population mutation-status coefficient differs from zero</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Evaluate Logistic Regression Results</a:t>
            </a:r>
          </a:p>
          <a:p>
            <a:pPr lvl="0" indent="0">
              <a:buNone/>
            </a:pPr>
            <a:r>
              <a:rPr>
                <a:latin typeface="Courier"/>
              </a:rPr>
              <a:t># A tibble: 5 × 6
  term            estimate_log_odds std_error z_statistic     p_value odds_ratio
  &lt;chr&gt;                       &lt;dbl&gt;     &lt;dbl&gt;       &lt;dbl&gt;       &lt;dbl&gt;      &lt;dbl&gt;
1 (Intercept)               1.23       0.749        1.64  0.102            3.41 
2 mutation_binary          -0.774      0.230       -3.37  0.000741         0.461
3 stage_num                -0.543      0.107       -5.07  0.000000393      0.581
4 age                       0.00154    0.0111       0.139 0.889            1.00 
5 baseline_burden          -0.0122     0.0173      -0.704 0.482            0.988</a:t>
            </a:r>
          </a:p>
          <a:p>
            <a:pPr lvl="0" indent="0" marL="0">
              <a:buNone/>
            </a:pPr>
            <a:r>
              <a:rPr b="1"/>
              <a:t>Interpretation</a:t>
            </a:r>
          </a:p>
          <a:p>
            <a:pPr lvl="0" indent="0" marL="0">
              <a:buNone/>
            </a:pPr>
            <a:r>
              <a:rPr/>
              <a:t>Tumor Stage [</a:t>
            </a:r>
            <a:r>
              <a:rPr>
                <a:latin typeface="Courier"/>
              </a:rPr>
              <a:t>stage_num</a:t>
            </a:r>
            <a:r>
              <a:rPr/>
              <a:t>]</a:t>
            </a:r>
          </a:p>
          <a:p>
            <a:pPr lvl="0"/>
            <a:r>
              <a:rPr/>
              <a:t>estimated log-odds coefficient = -0.543</a:t>
            </a:r>
          </a:p>
          <a:p>
            <a:pPr lvl="0"/>
            <a:r>
              <a:rPr/>
              <a:t>odds ratio = 0.581</a:t>
            </a:r>
          </a:p>
          <a:p>
            <a:pPr lvl="0"/>
            <a:r>
              <a:rPr/>
              <a:t>p-value = 3.93 × 10⁻⁷</a:t>
            </a:r>
          </a:p>
          <a:p>
            <a:pPr lvl="0" indent="0" marL="0">
              <a:buNone/>
            </a:pPr>
            <a:r>
              <a:rPr/>
              <a:t>every one-stage increase in tumor stage is associated with approximately 42% lower odds of treatment response holding the remaining variables constant</a:t>
            </a:r>
          </a:p>
          <a:p>
            <a:pPr lvl="0" indent="0" marL="0">
              <a:buNone/>
            </a:pPr>
            <a:r>
              <a:rPr/>
              <a:t>small p-value provides strong evidence that tumor stage is associated with treatment response in the population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Evaluate Logistic Regression Results</a:t>
            </a:r>
          </a:p>
          <a:p>
            <a:pPr lvl="0" indent="0">
              <a:buNone/>
            </a:pPr>
            <a:r>
              <a:rPr>
                <a:latin typeface="Courier"/>
              </a:rPr>
              <a:t># A tibble: 5 × 6
  term            estimate_log_odds std_error z_statistic     p_value odds_ratio
  &lt;chr&gt;                       &lt;dbl&gt;     &lt;dbl&gt;       &lt;dbl&gt;       &lt;dbl&gt;      &lt;dbl&gt;
1 (Intercept)               1.23       0.749        1.64  0.102            3.41 
2 mutation_binary          -0.774      0.230       -3.37  0.000741         0.461
3 stage_num                -0.543      0.107       -5.07  0.000000393      0.581
4 age                       0.00154    0.0111       0.139 0.889            1.00 
5 baseline_burden          -0.0122     0.0173      -0.704 0.482            0.988</a:t>
            </a:r>
          </a:p>
          <a:p>
            <a:pPr lvl="0" indent="0" marL="0">
              <a:buNone/>
            </a:pPr>
            <a:r>
              <a:rPr b="1"/>
              <a:t>Interpretation</a:t>
            </a:r>
          </a:p>
          <a:p>
            <a:pPr lvl="0" indent="0" marL="0">
              <a:buNone/>
            </a:pPr>
            <a:r>
              <a:rPr/>
              <a:t>Age [</a:t>
            </a:r>
            <a:r>
              <a:rPr>
                <a:latin typeface="Courier"/>
              </a:rPr>
              <a:t>age</a:t>
            </a:r>
            <a:r>
              <a:rPr/>
              <a:t>]</a:t>
            </a:r>
          </a:p>
          <a:p>
            <a:pPr lvl="0"/>
            <a:r>
              <a:rPr/>
              <a:t>estimated log-odds coefficient = 0.0015</a:t>
            </a:r>
          </a:p>
          <a:p>
            <a:pPr lvl="0"/>
            <a:r>
              <a:rPr/>
              <a:t>odds ratio = 1.002</a:t>
            </a:r>
          </a:p>
          <a:p>
            <a:pPr lvl="0"/>
            <a:r>
              <a:rPr/>
              <a:t>p-value = 0.889</a:t>
            </a:r>
          </a:p>
          <a:p>
            <a:pPr lvl="0" indent="0" marL="0">
              <a:buNone/>
            </a:pPr>
            <a:r>
              <a:rPr/>
              <a:t>after accounting for the other predictors, age shows little association with treatment response</a:t>
            </a:r>
          </a:p>
          <a:p>
            <a:pPr lvl="0" indent="0" marL="0">
              <a:buNone/>
            </a:pPr>
            <a:r>
              <a:rPr/>
              <a:t>coefficient is close to zero, the odds ratio is close to one, and the p-value indicates that the observed effect is consistent with sampling variability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Evaluate Logistic Regression Results</a:t>
            </a:r>
          </a:p>
          <a:p>
            <a:pPr lvl="0" indent="0">
              <a:buNone/>
            </a:pPr>
            <a:r>
              <a:rPr>
                <a:latin typeface="Courier"/>
              </a:rPr>
              <a:t># A tibble: 5 × 6
  term            estimate_log_odds std_error z_statistic     p_value odds_ratio
  &lt;chr&gt;                       &lt;dbl&gt;     &lt;dbl&gt;       &lt;dbl&gt;       &lt;dbl&gt;      &lt;dbl&gt;
1 (Intercept)               1.23       0.749        1.64  0.102            3.41 
2 mutation_binary          -0.774      0.230       -3.37  0.000741         0.461
3 stage_num                -0.543      0.107       -5.07  0.000000393      0.581
4 age                       0.00154    0.0111       0.139 0.889            1.00 
5 baseline_burden          -0.0122     0.0173      -0.704 0.482            0.988</a:t>
            </a:r>
          </a:p>
          <a:p>
            <a:pPr lvl="0" indent="0" marL="0">
              <a:buNone/>
            </a:pPr>
            <a:r>
              <a:rPr b="1"/>
              <a:t>Interpretation</a:t>
            </a:r>
          </a:p>
          <a:p>
            <a:pPr lvl="0" indent="0" marL="0">
              <a:buNone/>
            </a:pPr>
            <a:r>
              <a:rPr/>
              <a:t>Baseline Disease Burden [</a:t>
            </a:r>
            <a:r>
              <a:rPr>
                <a:latin typeface="Courier"/>
              </a:rPr>
              <a:t>baseline_burden</a:t>
            </a:r>
            <a:r>
              <a:rPr/>
              <a:t>]</a:t>
            </a:r>
          </a:p>
          <a:p>
            <a:pPr lvl="0"/>
            <a:r>
              <a:rPr/>
              <a:t>estimated log-odds coefficient = -0.012</a:t>
            </a:r>
          </a:p>
          <a:p>
            <a:pPr lvl="0"/>
            <a:r>
              <a:rPr/>
              <a:t>odds ratio = 0.988</a:t>
            </a:r>
          </a:p>
          <a:p>
            <a:pPr lvl="0"/>
            <a:r>
              <a:rPr/>
              <a:t>p-value = 0.482</a:t>
            </a:r>
          </a:p>
          <a:p>
            <a:pPr lvl="0" indent="0" marL="0">
              <a:buNone/>
            </a:pPr>
            <a:r>
              <a:rPr/>
              <a:t>baseline disease burden shows a small estimated negative association with treatment response</a:t>
            </a:r>
          </a:p>
          <a:p>
            <a:pPr lvl="0" indent="0" marL="0">
              <a:buNone/>
            </a:pPr>
            <a:r>
              <a:rPr/>
              <a:t>p-value indicates insufficient evidence that the population coefficient differs from zero</a:t>
            </a:r>
          </a:p>
          <a:p>
            <a:pPr lvl="0" indent="0" marL="0">
              <a:buNone/>
            </a:pPr>
            <a:r>
              <a:rPr b="1"/>
              <a:t>Summary</a:t>
            </a:r>
          </a:p>
          <a:p>
            <a:pPr lvl="0"/>
            <a:r>
              <a:rPr/>
              <a:t>tumor stage and mutation status are significantly associated with treatment response</a:t>
            </a:r>
          </a:p>
          <a:p>
            <a:pPr lvl="0"/>
            <a:r>
              <a:rPr/>
              <a:t>age and baseline disease burden do not provide strong evidence of association after adjustment for the other variables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Lecture Summary</a:t>
            </a:r>
          </a:p>
          <a:p>
            <a:pPr lvl="0"/>
            <a:r>
              <a:rPr/>
              <a:t>application of hypothesis testing within regression analysis</a:t>
            </a:r>
          </a:p>
          <a:p>
            <a:pPr lvl="0"/>
            <a:r>
              <a:rPr/>
              <a:t>regression hypothesis tests evaluate whether a predictor is associated with an outcome</a:t>
            </a:r>
          </a:p>
          <a:p>
            <a:pPr lvl="0"/>
            <a:r>
              <a:rPr>
                <a:latin typeface="Courier"/>
              </a:rPr>
              <a:t>null hypothesis</a:t>
            </a:r>
            <a:r>
              <a:rPr/>
              <a:t>: the regression coefficient equals a specified value.</a:t>
            </a:r>
          </a:p>
          <a:p>
            <a:pPr lvl="0"/>
            <a:r>
              <a:rPr>
                <a:latin typeface="Courier"/>
              </a:rPr>
              <a:t>alternative hypothesis</a:t>
            </a:r>
            <a:r>
              <a:rPr/>
              <a:t>: the regression coefficient differs from the specified null value</a:t>
            </a:r>
          </a:p>
          <a:p>
            <a:pPr lvl="0"/>
            <a:r>
              <a:rPr/>
              <a:t>regression test statistics measure how far an estimated coefficient is from its null value after accounting for sampling variability</a:t>
            </a:r>
          </a:p>
          <a:p>
            <a:pPr lvl="0"/>
            <a:r>
              <a:rPr/>
              <a:t>p-values provide evidence for evaluating whether the observed coefficient is consistent with the null hypothesis</a:t>
            </a:r>
          </a:p>
          <a:p>
            <a:pPr lvl="0"/>
            <a:r>
              <a:rPr/>
              <a:t>linear regression hypothesis tests are used when the outcome is continuous</a:t>
            </a:r>
          </a:p>
          <a:p>
            <a:pPr lvl="0"/>
            <a:r>
              <a:rPr/>
              <a:t>logistic regression hypothesis tests are used when the outcome is binary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Regression-Based Hypothesis Testing: Part 2</dc:title>
  <dc:creator> Lesley Chapman Hannah, Ph.D., M.S. College of Graduate Studies Northeast Ohio Medical University</dc:creator>
  <cp:keywords/>
  <dcterms:created xsi:type="dcterms:W3CDTF">2026-06-03T20:28:47Z</dcterms:created>
  <dcterms:modified xsi:type="dcterms:W3CDTF">2026-06-03T20:28:47Z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
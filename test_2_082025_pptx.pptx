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Extending Hypothesis Testing to Multiple Comparisons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hypothesis testing</a:t>
            </a:r>
            <a:r>
              <a:rPr/>
              <a:t> : statistical approach used to evaluate whether sample data provide sufficient evidence against a claim about a population</a:t>
            </a:r>
          </a:p>
          <a:p>
            <a:pPr lvl="0" indent="0" marL="0">
              <a:buNone/>
            </a:pPr>
            <a:r>
              <a:rPr/>
              <a:t>General hypothesis-testing framework:</a:t>
            </a:r>
          </a:p>
          <a:p>
            <a:pPr lvl="0"/>
            <a:r>
              <a:rPr/>
              <a:t>defining a population parameter of interest</a:t>
            </a:r>
          </a:p>
          <a:p>
            <a:pPr lvl="0"/>
            <a:r>
              <a:rPr/>
              <a:t>stating null and alternative hypotheses</a:t>
            </a:r>
          </a:p>
          <a:p>
            <a:pPr lvl="0"/>
            <a:r>
              <a:rPr/>
              <a:t>calculating a test statistic</a:t>
            </a:r>
          </a:p>
          <a:p>
            <a:pPr lvl="0"/>
            <a:r>
              <a:rPr/>
              <a:t>determining a P-value</a:t>
            </a:r>
          </a:p>
          <a:p>
            <a:pPr lvl="0"/>
            <a:r>
              <a:rPr/>
              <a:t>evaluating evidence against the null hypothesis</a:t>
            </a:r>
          </a:p>
          <a:p>
            <a:pPr lvl="0"/>
            <a:r>
              <a:rPr/>
              <a:t>drawing a conclusion in context</a:t>
            </a:r>
          </a:p>
          <a:p>
            <a:pPr lvl="0" indent="0" marL="0">
              <a:buNone/>
            </a:pPr>
            <a:r>
              <a:rPr/>
              <a:t>Hypothesis testing focuses on evaluating one research question at a time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Is a population mean different from a benchmark?</a:t>
            </a:r>
          </a:p>
          <a:p>
            <a:pPr lvl="0"/>
            <a:r>
              <a:rPr/>
              <a:t>Are two group means different?</a:t>
            </a:r>
          </a:p>
          <a:p>
            <a:pPr lvl="0"/>
            <a:r>
              <a:rPr/>
              <a:t>Are two population proportions different?</a:t>
            </a:r>
          </a:p>
          <a:p>
            <a:pPr lvl="0"/>
            <a:r>
              <a:rPr/>
              <a:t>Is a predictor associated with an outcome?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Biomedical inquiries often involve evaluating multiple feature simultaneously - biomarkers, clinical variables, treatment effects, genetic factors, or regression coefficients - within the same study</a:t>
            </a:r>
          </a:p>
          <a:p>
            <a:pPr lvl="0" indent="0" marL="0">
              <a:buNone/>
            </a:pPr>
            <a:r>
              <a:rPr/>
              <a:t>For example, a cancer study may simultaneously evaluate whether:</a:t>
            </a:r>
          </a:p>
          <a:p>
            <a:pPr lvl="0"/>
            <a:r>
              <a:rPr/>
              <a:t>tumor stage predicts survival</a:t>
            </a:r>
          </a:p>
          <a:p>
            <a:pPr lvl="0"/>
            <a:r>
              <a:rPr/>
              <a:t>age predicts survival</a:t>
            </a:r>
          </a:p>
          <a:p>
            <a:pPr lvl="0"/>
            <a:r>
              <a:rPr/>
              <a:t>mutation status predicts survival</a:t>
            </a:r>
          </a:p>
          <a:p>
            <a:pPr lvl="0"/>
            <a:r>
              <a:rPr/>
              <a:t>treatment exposure predicts survival</a:t>
            </a:r>
          </a:p>
          <a:p>
            <a:pPr lvl="0" indent="0" marL="0">
              <a:buNone/>
            </a:pPr>
            <a:r>
              <a:rPr/>
              <a:t>These studies often generate many hypothesis tests rather than a single test</a:t>
            </a:r>
          </a:p>
          <a:p>
            <a:pPr lvl="0" indent="0" marL="0">
              <a:buNone/>
            </a:pPr>
            <a:r>
              <a:rPr/>
              <a:t>When numerous tests are performed, statistically significant results may occur by chance alone</a:t>
            </a:r>
          </a:p>
          <a:p>
            <a:pPr lvl="0" indent="0" marL="0">
              <a:buNone/>
            </a:pPr>
            <a:r>
              <a:rPr/>
              <a:t>Multiple hypothesis testing focuses on interpreting results across many statistical tests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 Multiple Hypothesis Testing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>
                    <a:latin typeface="Courier"/>
                  </a:rPr>
                  <a:t>multiple hypothesis testing</a:t>
                </a:r>
                <a:r>
                  <a:rPr/>
                  <a:t> : process of evaluating two or more statistical hypotheses within a single study or analysis</a:t>
                </a:r>
              </a:p>
              <a:p>
                <a:pPr lvl="0"/>
                <a:r>
                  <a:rPr/>
                  <a:t>when number of hypothesis tests increases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probability of obtaining false-positive [Type I error rate] results by chance increases</a:t>
                </a:r>
              </a:p>
              <a:p>
                <a:pPr lvl="0" indent="0" marL="0">
                  <a:buNone/>
                </a:pPr>
                <a:r>
                  <a:rPr/>
                  <a:t>Examples include:</a:t>
                </a:r>
              </a:p>
              <a:p>
                <a:pPr lvl="0"/>
                <a:r>
                  <a:rPr/>
                  <a:t>testing hundreds of genes for differential expression</a:t>
                </a:r>
              </a:p>
              <a:p>
                <a:pPr lvl="0"/>
                <a:r>
                  <a:rPr/>
                  <a:t>testing thousands of genomic variants</a:t>
                </a:r>
              </a:p>
              <a:p>
                <a:pPr lvl="0"/>
                <a:r>
                  <a:rPr/>
                  <a:t>evaluating many biomarkers simultaneously</a:t>
                </a:r>
              </a:p>
              <a:p>
                <a:pPr lvl="0"/>
                <a:r>
                  <a:rPr/>
                  <a:t>screening multiple clinical outcomes</a:t>
                </a:r>
              </a:p>
              <a:p>
                <a:pPr lvl="0" indent="0" marL="0">
                  <a:buNone/>
                </a:pPr>
                <a:r>
                  <a:rPr/>
                  <a:t>Each test produces its own:</a:t>
                </a:r>
              </a:p>
              <a:p>
                <a:pPr lvl="0"/>
                <a:r>
                  <a:rPr/>
                  <a:t>null hypothesis</a:t>
                </a:r>
              </a:p>
              <a:p>
                <a:pPr lvl="0"/>
                <a:r>
                  <a:rPr/>
                  <a:t>test statistic</a:t>
                </a:r>
              </a:p>
              <a:p>
                <a:pPr lvl="0"/>
                <a:r>
                  <a:rPr/>
                  <a:t>p-value : evaluation of hundreds or thousands of p-values simultaneously</a:t>
                </a:r>
              </a:p>
              <a:p>
                <a:pPr lvl="0" indent="0" marL="0">
                  <a:buNone/>
                </a:pPr>
                <a:r>
                  <a:rPr/>
                  <a:t>Note: probability of obtaining false positive findings increases as the number of tests increases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Multiple Testing Procedures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hypothesis testing is designed to evaluate evidence against a null hypothesis</a:t>
            </a:r>
          </a:p>
          <a:p>
            <a:pPr lvl="0"/>
            <a:r>
              <a:rPr/>
              <a:t>when a single hypothesis test is performed, the probability of a false positive is controlled by the selected significance level: α</a:t>
            </a:r>
          </a:p>
          <a:p>
            <a:pPr lvl="0"/>
            <a:r>
              <a:rPr/>
              <a:t>when many hypothesis tests are performed simultaneously, opportunities for false positive findings increase</a:t>
            </a:r>
          </a:p>
          <a:p>
            <a:pPr lvl="0" indent="0" marL="0">
              <a:buNone/>
            </a:pPr>
            <a:r>
              <a:rPr/>
              <a:t>As a result:</a:t>
            </a:r>
          </a:p>
          <a:p>
            <a:pPr lvl="0"/>
            <a:r>
              <a:rPr/>
              <a:t>statistically significant findings may occur by chance alone</a:t>
            </a:r>
          </a:p>
          <a:p>
            <a:pPr lvl="0"/>
            <a:r>
              <a:rPr/>
              <a:t>number of false discoveries increases</a:t>
            </a:r>
          </a:p>
          <a:p>
            <a:pPr lvl="0"/>
            <a:r>
              <a:rPr/>
              <a:t>scientific conclusions become less reliable</a:t>
            </a:r>
          </a:p>
          <a:p>
            <a:pPr lvl="0"/>
            <a:r>
              <a:rPr/>
              <a:t>follow-up studies may fail to replicate reported findings</a:t>
            </a:r>
          </a:p>
          <a:p>
            <a:pPr lvl="0" indent="0" marL="0">
              <a:buNone/>
            </a:pPr>
            <a:r>
              <a:rPr/>
              <a:t>Multiple-testing procedures extend the hypothesis-testing framework to settings involving many simultaneous tests.</a:t>
            </a:r>
          </a:p>
          <a:p>
            <a:pPr lvl="0" indent="0" marL="0">
              <a:buNone/>
            </a:pPr>
            <a:r>
              <a:rPr/>
              <a:t>Multiple-testing involves two key goals:</a:t>
            </a:r>
          </a:p>
          <a:p>
            <a:pPr lvl="0"/>
            <a:r>
              <a:rPr/>
              <a:t>identify true associations</a:t>
            </a:r>
          </a:p>
          <a:p>
            <a:pPr lvl="0"/>
            <a:r>
              <a:rPr/>
              <a:t>limit false positive findings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 for Multiple Testing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Consider: to understand why multiple testing can lead to false positives, consider a situation where all null hypotheses are actually true</a:t>
            </a:r>
          </a:p>
          <a:p>
            <a:pPr lvl="0" indent="0" marL="0">
              <a:buNone/>
            </a:pPr>
            <a:r>
              <a:rPr/>
              <a:t>If α=0.05 then each individual hypothesis test has a 5% probability of producing a false positive result</a:t>
            </a:r>
          </a:p>
          <a:p>
            <a:pPr lvl="0" indent="0" marL="0">
              <a:buNone/>
            </a:pPr>
            <a:r>
              <a:rPr/>
              <a:t>When many tests are performed false positives accumulate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 marL="0">
              <a:buNone/>
            </a:pPr>
            <a:r>
              <a:rPr/>
              <a:t>Note : even when no true associations exist, statistically significant results can still appear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and Approaches for Multiple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Multiple-testing procedures attempt to balance two competing objectives:</a:t>
            </a:r>
          </a:p>
          <a:p>
            <a:pPr lvl="0" indent="0" marL="0">
              <a:buNone/>
            </a:pPr>
            <a:r>
              <a:rPr b="1"/>
              <a:t>1. Identify true biological signals</a:t>
            </a:r>
          </a:p>
          <a:p>
            <a:pPr lvl="0" indent="0" marL="0">
              <a:buNone/>
            </a:pPr>
            <a:r>
              <a:rPr/>
              <a:t>Discovering meaningful associations that may improve scientific understanding</a:t>
            </a:r>
          </a:p>
          <a:p>
            <a:pPr lvl="0" indent="0" marL="0">
              <a:buNone/>
            </a:pPr>
            <a:r>
              <a:rPr b="1"/>
              <a:t>2. Limit false positive findings</a:t>
            </a:r>
          </a:p>
          <a:p>
            <a:pPr lvl="0" indent="0" marL="0">
              <a:buNone/>
            </a:pPr>
            <a:r>
              <a:rPr/>
              <a:t>Avoid reporting associations that arise only from random variation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and Approaches for Multiple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Approaches for Multiple Testing: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Family-Wise Error Rate [FWER]</a:t>
            </a:r>
            <a:r>
              <a:rPr/>
              <a:t>: method that controls the probability of making at least one false positive across all tests</a:t>
            </a:r>
          </a:p>
          <a:p>
            <a:pPr lvl="0" indent="0" marL="0">
              <a:buNone/>
            </a:pPr>
            <a:r>
              <a:rPr/>
              <a:t>Method: Bonferroni correction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False Discovery Rate [FDR]</a:t>
            </a:r>
            <a:r>
              <a:rPr/>
              <a:t> : controls the expected proportion of false positives among significant findings</a:t>
            </a:r>
          </a:p>
          <a:p>
            <a:pPr lvl="0" indent="0" marL="0">
              <a:buNone/>
            </a:pPr>
            <a:r>
              <a:rPr/>
              <a:t>Method: Benjamini-Hochberg procedure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Apply Multiple Hypothesis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Consider:</a:t>
            </a:r>
          </a:p>
          <a:p>
            <a:pPr lvl="0" indent="0" marL="1270000">
              <a:buNone/>
            </a:pPr>
            <a:r>
              <a:rPr sz="2000"/>
              <a:t>Are multiple hypothesis tests being interpreted as part of the same study or analysis?</a:t>
            </a:r>
          </a:p>
          <a:p>
            <a:pPr lvl="0" indent="0" marL="0">
              <a:buNone/>
            </a:pPr>
            <a:r>
              <a:rPr/>
              <a:t>Multiple hypothesis correction should be applied whenever several p-values are generated from related questions</a:t>
            </a:r>
          </a:p>
          <a:p>
            <a:pPr lvl="0" indent="0" marL="0">
              <a:buNone/>
            </a:pPr>
            <a:r>
              <a:rPr/>
              <a:t>Apply approach if repeated testing increases the chance of false discoveries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5–20 related tests: multiple-testing correction should usually be considered</a:t>
            </a:r>
          </a:p>
          <a:p>
            <a:pPr lvl="0"/>
            <a:r>
              <a:rPr/>
              <a:t>dozens to thousands of tests: correction is generally expected</a:t>
            </a:r>
          </a:p>
          <a:p>
            <a:pPr lvl="0"/>
            <a:r>
              <a:rPr/>
              <a:t>high-dimensional omics studies: FDR correction is standard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Controlling False Positives in Multiple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many hypothesis tests are performed, one can decide how they want to control false positives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Controlling False Positives in Multiple Hypothesis Testing</a:t>
            </a:r>
          </a:p>
          <a:p>
            <a:pPr lvl="0" indent="0" marL="0">
              <a:buNone/>
            </a:pPr>
            <a:r>
              <a:rPr b="1"/>
              <a:t>Family-Wise Error Rate [FWER]</a:t>
            </a:r>
          </a:p>
          <a:p>
            <a:pPr lvl="0"/>
            <a:r>
              <a:rPr/>
              <a:t>when single false positive would be costly</a:t>
            </a:r>
          </a:p>
          <a:p>
            <a:pPr lvl="0"/>
            <a:r>
              <a:rPr/>
              <a:t>results may directly influence clinical decisions</a:t>
            </a:r>
          </a:p>
          <a:p>
            <a:pPr lvl="0"/>
            <a:r>
              <a:rPr/>
              <a:t>regulatory or confirmatory studies are being conducted</a:t>
            </a:r>
          </a:p>
          <a:p>
            <a:pPr lvl="0"/>
            <a:r>
              <a:rPr/>
              <a:t>number of hypotheses is relatively small</a:t>
            </a:r>
          </a:p>
          <a:p>
            <a:pPr lvl="0" indent="0" marL="0">
              <a:buNone/>
            </a:pPr>
            <a:r>
              <a:rPr/>
              <a:t>Examples</a:t>
            </a:r>
          </a:p>
          <a:p>
            <a:pPr lvl="0"/>
            <a:r>
              <a:rPr/>
              <a:t>Phase III clinical trials</a:t>
            </a:r>
          </a:p>
          <a:p>
            <a:pPr lvl="0"/>
            <a:r>
              <a:rPr/>
              <a:t>Primary endpoints in biomedical studies</a:t>
            </a:r>
          </a:p>
          <a:p>
            <a:pPr lvl="0"/>
            <a:r>
              <a:rPr/>
              <a:t>regulatory submission analyses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Controlling False Positives in Multiple Hypothesis Testing</a:t>
            </a:r>
          </a:p>
          <a:p>
            <a:pPr lvl="0" indent="0" marL="0">
              <a:buNone/>
            </a:pPr>
            <a:r>
              <a:rPr b="1"/>
              <a:t>False Discovery Rate [FDR]</a:t>
            </a:r>
          </a:p>
          <a:p>
            <a:pPr lvl="0"/>
            <a:r>
              <a:rPr/>
              <a:t>many hypotheses are tested simultaneously</a:t>
            </a:r>
          </a:p>
          <a:p>
            <a:pPr lvl="0"/>
            <a:r>
              <a:rPr/>
              <a:t>some false positives are acceptable in exchange for increased discovery</a:t>
            </a:r>
          </a:p>
          <a:p>
            <a:pPr lvl="0"/>
            <a:r>
              <a:rPr/>
              <a:t>findings will be validated in future studies</a:t>
            </a:r>
          </a:p>
          <a:p>
            <a:pPr lvl="0" indent="0" marL="0">
              <a:buNone/>
            </a:pPr>
            <a:r>
              <a:rPr/>
              <a:t>Examples</a:t>
            </a:r>
          </a:p>
          <a:p>
            <a:pPr lvl="0"/>
            <a:r>
              <a:rPr/>
              <a:t>gene expression studies</a:t>
            </a:r>
          </a:p>
          <a:p>
            <a:pPr lvl="0"/>
            <a:r>
              <a:rPr/>
              <a:t>GWAS analyses</a:t>
            </a:r>
          </a:p>
          <a:p>
            <a:pPr lvl="0"/>
            <a:r>
              <a:rPr/>
              <a:t>proteomics and other omics studies</a:t>
            </a:r>
          </a:p>
          <a:p>
            <a:pPr lvl="0"/>
            <a:r>
              <a:rPr/>
              <a:t>biomarker discovery projects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 Multiple Clinical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Background:</a:t>
                </a:r>
              </a:p>
              <a:p>
                <a:pPr lvl="0" indent="0" marL="0">
                  <a:buNone/>
                </a:pPr>
                <a:r>
                  <a:rPr/>
                  <a:t>A randomized cancer therapy study evaluates whether a new treatment is associated with improvement across six clinical outcomes.</a:t>
                </a:r>
              </a:p>
              <a:p>
                <a:pPr lvl="0" indent="0" marL="0">
                  <a:buNone/>
                </a:pPr>
                <a:r>
                  <a:rPr/>
                  <a:t>Each outcome represents a separate hypothesis test.</a:t>
                </a:r>
              </a:p>
              <a:p>
                <a:pPr lvl="0" indent="0" marL="0">
                  <a:buNone/>
                </a:pPr>
                <a:r>
                  <a:rPr/>
                  <a:t>For each outcome: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new treatment is not associated with the outcome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new treatment is associated with the outcome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Scientific question:</a:t>
                </a:r>
              </a:p>
              <a:p>
                <a:pPr lvl="0" indent="0" marL="1270000">
                  <a:buNone/>
                </a:pPr>
                <a:r>
                  <a:rPr sz="2000"/>
                  <a:t>Which clinical outcomes remain signficant after accounting for the fact that several hypothesis tests were performed?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 What Tests Generated These P-values?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Each p-value comes from a separate hypothesis test evaluating whether treatment is associated with a patient outcome</a:t>
                </a:r>
              </a:p>
              <a:p>
                <a:pPr lvl="0" indent="0" marL="0">
                  <a:buNone/>
                </a:pPr>
                <a:r>
                  <a:rPr/>
                  <a:t>Possible tests include:</a:t>
                </a:r>
              </a:p>
              <a:p>
                <a:pPr lvl="0" indent="0" marL="0">
                  <a:buNone/>
                </a:pPr>
                <a:r>
                  <a:rPr/>
                  <a:t>Each test has its own null hypothesis for example: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treatment is not associated with the outcome</m:t>
                      </m:r>
                    </m:oMath>
                  </m:oMathPara>
                </a14:m>
              </a:p>
              <a:p>
                <a:pPr lvl="0"/>
                <a:r>
                  <a:rPr/>
                  <a:t>all six p-values are interpreted together as evidence about treatment benefit: multiple-testing correction is needed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 Simulated Clinical Endpoint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clinical_df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outcome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"Overall Survival"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"Progression-Free Survival"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"Response Rate"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"Symptom Score"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"Quality of Life"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"Hospitalizations"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0.002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0.031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0.041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clinical_df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outcome                   p_value
  &lt;chr&gt;                       &lt;dbl&gt;
1 Overall Survival            0.002
2 Progression-Free Survival   0.018
3 Response Rate               0.031
4 Symptom Score               0.041
5 Quality of Life             0.12 
6 Hospitalizations            0.21 </a:t>
            </a:r>
          </a:p>
          <a:p>
            <a:pPr lvl="0" indent="0" marL="0">
              <a:buNone/>
            </a:pPr>
            <a:r>
              <a:rPr b="1"/>
              <a:t>Output Overview</a:t>
            </a:r>
          </a:p>
          <a:p>
            <a:pPr lvl="0"/>
            <a:r>
              <a:rPr/>
              <a:t>table of raw p-values from six hypothesis tests</a:t>
            </a:r>
          </a:p>
          <a:p>
            <a:pPr lvl="0"/>
            <a:r>
              <a:rPr/>
              <a:t>each p-value represents evidence against a separate null hypothesis</a:t>
            </a:r>
          </a:p>
          <a:p>
            <a:pPr lvl="0"/>
            <a:r>
              <a:rPr/>
              <a:t>raw p-values treats each test as if it were the only test performed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Bonferroni and FDR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clinical_df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outcome     p_value p_bonferroni  p_fdr raw_significant bonferroni_significant
  &lt;chr&gt;         &lt;dbl&gt;        &lt;dbl&gt;  &lt;dbl&gt; &lt;lgl&gt;           &lt;lgl&gt;                 
1 Overall Su…   0.002        0.012 0.012  TRUE            TRUE                  
2 Progressio…   0.018        0.108 0.054  TRUE            FALSE                 
3 Response R…   0.031        0.186 0.0615 TRUE            FALSE                 
4 Symptom Sc…   0.041        0.246 0.0615 TRUE            FALSE                 
5 Quality of…   0.12         0.72  0.144  FALSE           FALSE                 
6 Hospitaliz…   0.21         1     0.21   FALSE           FALSE                 
# ℹ 1 more variable: fdr_significant &lt;lgl&gt;</a:t>
            </a:r>
          </a:p>
          <a:p>
            <a:pPr lvl="0" indent="0" marL="0">
              <a:buNone/>
            </a:pPr>
            <a:r>
              <a:rPr b="1"/>
              <a:t>Code Interpretation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Bonferroni correction</a:t>
            </a:r>
            <a:r>
              <a:rPr/>
              <a:t> : controls the probability of making at least one false positive across all six tests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FDR correction</a:t>
            </a:r>
            <a:r>
              <a:rPr/>
              <a:t>: controls the expected proportion of false positives among the outcomes declared significant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Central Aim</a:t>
            </a:r>
            <a:r>
              <a:rPr/>
              <a:t> : Determine whether results remain statistically credible after accounting for all related tests?</a:t>
            </a:r>
          </a:p>
          <a:p>
            <a:pPr lvl="0"/>
            <a:r>
              <a:rPr>
                <a:latin typeface="Courier"/>
              </a:rPr>
              <a:t>p_bonferroni</a:t>
            </a:r>
            <a:r>
              <a:rPr/>
              <a:t>: p-values adjusted to control the probability of at least one false positive</a:t>
            </a:r>
          </a:p>
          <a:p>
            <a:pPr lvl="0"/>
            <a:r>
              <a:rPr>
                <a:latin typeface="Courier"/>
              </a:rPr>
              <a:t>p_fdr</a:t>
            </a:r>
            <a:r>
              <a:rPr/>
              <a:t>: p-values adjusted using the Benjamini-Hochberg false discovery rate procedure</a:t>
            </a:r>
          </a:p>
          <a:p>
            <a:pPr lvl="0"/>
            <a:r>
              <a:rPr>
                <a:latin typeface="Courier"/>
              </a:rPr>
              <a:t>raw_significant</a:t>
            </a:r>
            <a:r>
              <a:rPr/>
              <a:t>: significant before correction</a:t>
            </a:r>
          </a:p>
          <a:p>
            <a:pPr lvl="0"/>
            <a:r>
              <a:rPr>
                <a:latin typeface="Courier"/>
              </a:rPr>
              <a:t>bonferroni_significant</a:t>
            </a:r>
            <a:r>
              <a:rPr/>
              <a:t>: significant after Bonferroni correction</a:t>
            </a:r>
          </a:p>
          <a:p>
            <a:pPr lvl="0"/>
            <a:r>
              <a:rPr>
                <a:latin typeface="Courier"/>
              </a:rPr>
              <a:t>fdr_significant</a:t>
            </a:r>
            <a:r>
              <a:rPr/>
              <a:t>: significant after FDR correction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Bonferroni and FDR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clinical_df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outcome     p_value p_bonferroni  p_fdr raw_significant bonferroni_significant
  &lt;chr&gt;         &lt;dbl&gt;        &lt;dbl&gt;  &lt;dbl&gt; &lt;lgl&gt;           &lt;lgl&gt;                 
1 Overall Su…   0.002        0.012 0.012  TRUE            TRUE                  
2 Progressio…   0.018        0.108 0.054  TRUE            FALSE                 
3 Response R…   0.031        0.186 0.0615 TRUE            FALSE                 
4 Symptom Sc…   0.041        0.246 0.0615 TRUE            FALSE                 
5 Quality of…   0.12         0.72  0.144  FALSE           FALSE                 
6 Hospitaliz…   0.21         1     0.21   FALSE           FALSE                 
# ℹ 1 more variable: fdr_significant &lt;lgl&gt;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/>
              <a:t>Raw p-value interpretation - four outcomes appeared statistically significant:</a:t>
            </a:r>
          </a:p>
          <a:p>
            <a:pPr lvl="0"/>
            <a:r>
              <a:rPr/>
              <a:t>Overall Survival</a:t>
            </a:r>
          </a:p>
          <a:p>
            <a:pPr lvl="0"/>
            <a:r>
              <a:rPr/>
              <a:t>Progression-Free Survival</a:t>
            </a:r>
          </a:p>
          <a:p>
            <a:pPr lvl="0"/>
            <a:r>
              <a:rPr/>
              <a:t>Response Rate</a:t>
            </a:r>
          </a:p>
          <a:p>
            <a:pPr lvl="0"/>
            <a:r>
              <a:rPr/>
              <a:t>Symptom Score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Bonferroni and FDR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clinical_df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outcome     p_value p_bonferroni  p_fdr raw_significant bonferroni_significant
  &lt;chr&gt;         &lt;dbl&gt;        &lt;dbl&gt;  &lt;dbl&gt; &lt;lgl&gt;           &lt;lgl&gt;                 
1 Overall Su…   0.002        0.012 0.012  TRUE            TRUE                  
2 Progressio…   0.018        0.108 0.054  TRUE            FALSE                 
3 Response R…   0.031        0.186 0.0615 TRUE            FALSE                 
4 Symptom Sc…   0.041        0.246 0.0615 TRUE            FALSE                 
5 Quality of…   0.12         0.72  0.144  FALSE           FALSE                 
6 Hospitaliz…   0.21         1     0.21   FALSE           FALSE                 
# ℹ 1 more variable: fdr_significant &lt;lgl&gt;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/>
              <a:t>After applying Bonferroni and FDR correction, only Overall Survival remained statistically significant at: α=0.05</a:t>
            </a:r>
          </a:p>
          <a:p>
            <a:pPr lvl="0"/>
            <a:r>
              <a:rPr/>
              <a:t>some significant findings observed in the raw analysis were no longer statistically significant after accounting for multiple hypothesis tests</a:t>
            </a:r>
          </a:p>
          <a:p>
            <a:pPr lvl="0"/>
            <a:r>
              <a:rPr/>
              <a:t>overall Survival showed the strongest evidence against the null hypothesis</a:t>
            </a:r>
          </a:p>
          <a:p>
            <a:pPr lvl="0"/>
            <a:r>
              <a:rPr/>
              <a:t>multiple-testing procedures help distinguish findings that remain credible after considering the full set of hypothesis tests performed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2: Cancer Biomarker Discovery Screen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Background:</a:t>
                </a:r>
              </a:p>
              <a:p>
                <a:pPr lvl="0" indent="0" marL="0">
                  <a:buNone/>
                </a:pPr>
                <a:r>
                  <a:rPr/>
                  <a:t>A cancer biomarker discovery study evaluates whether baseline tumor biomarkers are associated with treatment response</a:t>
                </a:r>
              </a:p>
              <a:p>
                <a:pPr lvl="0" indent="0" marL="0">
                  <a:buNone/>
                </a:pPr>
                <a:r>
                  <a:rPr/>
                  <a:t>The study tests 1,000 biomarkers and 1,000 hypothesis tests generated</a:t>
                </a:r>
              </a:p>
              <a:p>
                <a:pPr lvl="0" indent="0" marL="0">
                  <a:buNone/>
                </a:pPr>
                <a:r>
                  <a:rPr b="1"/>
                  <a:t>For each biomarker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: biomarker j is not associated with treatment response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A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: biomarker j is associated with treatment response</a:t>
                </a:r>
              </a:p>
              <a:p>
                <a:pPr lvl="0"/>
                <a:r>
                  <a:rPr/>
                  <a:t>each test is evaluated using: α=0.05</a:t>
                </a:r>
              </a:p>
              <a:p>
                <a:pPr lvl="0"/>
                <a:r>
                  <a:rPr/>
                  <a:t>many biomarkers may appear significant by chance alone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Simulate Biomarker 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160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n_tests &lt;-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n_true_signals &lt;-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n_null &lt;- n_tests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n_true_signals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biomarker_results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biomarker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"BMK"</a:t>
            </a:r>
            <a:r>
              <a:rPr>
                <a:solidFill>
                  <a:srgbClr val="003B4F"/>
                </a:solidFill>
                <a:latin typeface="Courier"/>
              </a:rPr>
              <a:t>, stringr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str_pad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n_tests,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pad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truth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"True association"</a:t>
            </a:r>
            <a:r>
              <a:rPr>
                <a:solidFill>
                  <a:srgbClr val="003B4F"/>
                </a:solidFill>
                <a:latin typeface="Courier"/>
              </a:rPr>
              <a:t>, n_true_signals),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 association"</a:t>
            </a:r>
            <a:r>
              <a:rPr>
                <a:solidFill>
                  <a:srgbClr val="003B4F"/>
                </a:solidFill>
                <a:latin typeface="Courier"/>
              </a:rPr>
              <a:t>, n_null)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rbeta</a:t>
            </a:r>
            <a:r>
              <a:rPr>
                <a:solidFill>
                  <a:srgbClr val="003B4F"/>
                </a:solidFill>
                <a:latin typeface="Courier"/>
              </a:rPr>
              <a:t>(n_true_signals, </a:t>
            </a:r>
            <a:r>
              <a:rPr>
                <a:solidFill>
                  <a:srgbClr val="657422"/>
                </a:solidFill>
                <a:latin typeface="Courier"/>
              </a:rPr>
              <a:t>shape1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(n_null, </a:t>
            </a:r>
            <a:r>
              <a:rPr>
                <a:solidFill>
                  <a:srgbClr val="657422"/>
                </a:solidFill>
                <a:latin typeface="Courier"/>
              </a:rPr>
              <a:t>min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biomarker_results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biomarker truth              p_value
   &lt;chr&gt;     &lt;chr&gt;                &lt;dbl&gt;
 1 BMK0001   True association 0.00248  
 2 BMK0002   True association 0.000787 
 3 BMK0003   True association 0.000558 
 4 BMK0004   True association 0.0105   
 5 BMK0005   True association 0.0000362
 6 BMK0006   True association 0.0662   
 7 BMK0007   True association 0.000231 
 8 BMK0008   True association 0.00411  
 9 BMK0009   True association 0.0371   
10 BMK0010   True association 0.000331 </a:t>
            </a:r>
          </a:p>
          <a:p>
            <a:pPr lvl="0"/>
            <a:r>
              <a:rPr/>
              <a:t>simulated dataset contains two types of biomarkers</a:t>
            </a:r>
          </a:p>
          <a:p>
            <a:pPr lvl="0"/>
            <a:r>
              <a:rPr/>
              <a:t>some biomarkers have true associations [p-values concentrated near zero]</a:t>
            </a:r>
          </a:p>
          <a:p>
            <a:pPr lvl="0"/>
            <a:r>
              <a:rPr/>
              <a:t>most biomarkers have no true association [p-value - distribution between 0 and 1]</a:t>
            </a:r>
          </a:p>
          <a:p>
            <a:pPr lvl="0"/>
            <a:r>
              <a:rPr/>
              <a:t>small subset of biomarkers may represent real biological signal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P-value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raw_results &lt;- biomarker_results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(truth, raw_significant)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raw_results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truth            raw_significant     n
  &lt;chr&gt;            &lt;lgl&gt;           &lt;int&gt;
1 No association   FALSE             907
2 No association   TRUE               43
3 True association FALSE              14
4 True association TRUE               36</a:t>
            </a:r>
          </a:p>
          <a:p>
            <a:pPr lvl="0" indent="0" marL="0">
              <a:buNone/>
            </a:pPr>
            <a:r>
              <a:rPr b="1"/>
              <a:t>Table Summary</a:t>
            </a:r>
          </a:p>
          <a:p>
            <a:pPr lvl="0"/>
            <a:r>
              <a:rPr/>
              <a:t>count of biomarkers significant based on unadjusted p-values</a:t>
            </a:r>
          </a:p>
          <a:p>
            <a:pPr lvl="0"/>
            <a:r>
              <a:rPr/>
              <a:t>note number of biomarkers with no association that appear significant [n=43] - false positives</a:t>
            </a:r>
          </a:p>
          <a:p>
            <a:pPr lvl="0"/>
            <a:r>
              <a:rPr/>
              <a:t>false positives generated because many hypothesis tests were performed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Bonferroni and FDR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biomarker_adjusted &lt;- biomarker_results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 marL="0">
              <a:buNone/>
            </a:pPr>
            <a:r>
              <a:rPr b="1"/>
              <a:t>Code Overview</a:t>
            </a:r>
          </a:p>
          <a:p>
            <a:pPr lvl="0" indent="0" marL="0">
              <a:buNone/>
            </a:pPr>
            <a:r>
              <a:rPr/>
              <a:t>Compute Bonferroni-adjusted p-values: </a:t>
            </a:r>
            <a:r>
              <a:rPr>
                <a:latin typeface="Courier"/>
              </a:rPr>
              <a:t>p_bonferroni = p.adjust(p_value, method = "bonferroni")</a:t>
            </a:r>
          </a:p>
          <a:p>
            <a:pPr lvl="0" indent="0" marL="0">
              <a:buNone/>
            </a:pPr>
            <a:r>
              <a:rPr/>
              <a:t>Computes Benjamini-Hochberg adjusted p-values: </a:t>
            </a:r>
            <a:r>
              <a:rPr>
                <a:latin typeface="Courier"/>
              </a:rPr>
              <a:t>p_fdr = p.adjust(p_value, method = "fdr")</a:t>
            </a:r>
          </a:p>
          <a:p>
            <a:pPr lvl="0" indent="0" marL="0">
              <a:buNone/>
            </a:pPr>
            <a:r>
              <a:rPr/>
              <a:t>Identify biomarkers significant using unadjusted p-values: </a:t>
            </a:r>
            <a:r>
              <a:rPr>
                <a:latin typeface="Courier"/>
              </a:rPr>
              <a:t>raw_significant = p_value &lt;= 0.05</a:t>
            </a:r>
          </a:p>
          <a:p>
            <a:pPr lvl="0" indent="0" marL="0">
              <a:buNone/>
            </a:pPr>
            <a:r>
              <a:rPr/>
              <a:t>Identify biomarkers significant after Bonferroni correction: </a:t>
            </a:r>
            <a:r>
              <a:rPr>
                <a:latin typeface="Courier"/>
              </a:rPr>
              <a:t>bonferroni_significant = p_bonferroni &lt;= 0.05</a:t>
            </a:r>
          </a:p>
          <a:p>
            <a:pPr lvl="0" indent="0" marL="0">
              <a:buNone/>
            </a:pPr>
            <a:r>
              <a:rPr/>
              <a:t>Identify biomarkers significant after FDR correction: </a:t>
            </a:r>
            <a:r>
              <a:rPr>
                <a:latin typeface="Courier"/>
              </a:rPr>
              <a:t>fdr_significant = p_fdr &lt;= 0.05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Bonferroni and FDR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biomarker_adjusted &lt;- biomarker_results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biomarker_adjusted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(raw_significant),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(bonferroni_significant),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(fdr_significant)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raw_discoveries bonferroni_discoveries fdr_discoveries
            &lt;int&gt;                  &lt;int&gt;           &lt;int&gt;
1              79                      4               9</a:t>
            </a:r>
          </a:p>
          <a:p>
            <a:pPr lvl="0" indent="0" marL="0">
              <a:buNone/>
            </a:pPr>
            <a:r>
              <a:rPr/>
              <a:t>Table contains total count of statistically significant biomarkers</a:t>
            </a:r>
          </a:p>
          <a:p>
            <a:pPr lvl="0"/>
            <a:r>
              <a:rPr>
                <a:latin typeface="Courier"/>
              </a:rPr>
              <a:t>raw_discoveries</a:t>
            </a:r>
            <a:r>
              <a:rPr/>
              <a:t>: biomarkers significant using unadjusted p-values</a:t>
            </a:r>
          </a:p>
          <a:p>
            <a:pPr lvl="0"/>
            <a:r>
              <a:rPr>
                <a:latin typeface="Courier"/>
              </a:rPr>
              <a:t>bonferroni_discoveries</a:t>
            </a:r>
            <a:r>
              <a:rPr/>
              <a:t>: biomarkers significant after strict FWER control</a:t>
            </a:r>
          </a:p>
          <a:p>
            <a:pPr lvl="0"/>
            <a:r>
              <a:rPr>
                <a:latin typeface="Courier"/>
              </a:rPr>
              <a:t>fdr_discoveries</a:t>
            </a:r>
            <a:r>
              <a:rPr/>
              <a:t>: biomarkers significant after FDR control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Bonferroni and FDR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biomarker_adjusted &lt;- biomarker_results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p_bonferroni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p_fdr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"fdr"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raw_significant =</a:t>
            </a:r>
            <a:r>
              <a:rPr>
                <a:solidFill>
                  <a:srgbClr val="003B4F"/>
                </a:solidFill>
                <a:latin typeface="Courier"/>
              </a:rPr>
              <a:t> p_value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bonferroni_significant =</a:t>
            </a:r>
            <a:r>
              <a:rPr>
                <a:solidFill>
                  <a:srgbClr val="003B4F"/>
                </a:solidFill>
                <a:latin typeface="Courier"/>
              </a:rPr>
              <a:t> p_bonferroni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fdr_significant =</a:t>
            </a:r>
            <a:r>
              <a:rPr>
                <a:solidFill>
                  <a:srgbClr val="003B4F"/>
                </a:solidFill>
                <a:latin typeface="Courier"/>
              </a:rPr>
              <a:t> p_fdr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biomarker_adjusted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raw_discoveries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(raw_significant),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bonferroni_discoveries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(bonferroni_significant),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fdr_discoveries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(fdr_significant)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raw_discoveries bonferroni_discoveries fdr_discoveries
            &lt;int&gt;                  &lt;int&gt;           &lt;int&gt;
1              79                      4               9</a:t>
            </a:r>
          </a:p>
          <a:p>
            <a:pPr lvl="0" indent="0" marL="0">
              <a:buNone/>
            </a:pPr>
            <a:r>
              <a:rPr b="1"/>
              <a:t>Results Interpretation</a:t>
            </a:r>
          </a:p>
          <a:p>
            <a:pPr lvl="0"/>
            <a:r>
              <a:rPr/>
              <a:t>79 biomarkers had unadjusted p-values ≤ 0.05 [many might be false positives]</a:t>
            </a:r>
          </a:p>
          <a:p>
            <a:pPr lvl="0"/>
            <a:r>
              <a:rPr/>
              <a:t>4 biomarkers remained significant after Bonferroni correction</a:t>
            </a:r>
          </a:p>
          <a:p>
            <a:pPr lvl="1"/>
            <a:r>
              <a:rPr/>
              <a:t>Bonferroni tries to prevent even a single false positive across all tests</a:t>
            </a:r>
          </a:p>
          <a:p>
            <a:pPr lvl="0"/>
            <a:r>
              <a:rPr/>
              <a:t>9 biomarkers remained significant after FDR correction</a:t>
            </a:r>
          </a:p>
          <a:p>
            <a:pPr lvl="1"/>
            <a:r>
              <a:rPr/>
              <a:t>FDR controls the expected proportion of false positives rather than eliminating them entirely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multiple hypothesis testing is implemented when many statistical tests are evaluated within the same study</a:t>
            </a:r>
          </a:p>
          <a:p>
            <a:pPr lvl="0"/>
            <a:r>
              <a:rPr/>
              <a:t>each hypothesis test produces its own p-value</a:t>
            </a:r>
          </a:p>
          <a:p>
            <a:pPr lvl="0"/>
            <a:r>
              <a:rPr/>
              <a:t>performing many tests increases the chance of false positive findings</a:t>
            </a:r>
          </a:p>
          <a:p>
            <a:pPr lvl="0"/>
            <a:r>
              <a:rPr/>
              <a:t>raw p-values can overstate evidence when many hypotheses are evaluated simultaneously multiple-testing procedures help control false discoveries</a:t>
            </a:r>
          </a:p>
          <a:p>
            <a:pPr lvl="0" indent="0" marL="0">
              <a:buNone/>
            </a:pPr>
            <a:r>
              <a:rPr/>
              <a:t>Two hypothesis correction procedures include:</a:t>
            </a:r>
          </a:p>
          <a:p>
            <a:pPr lvl="0" indent="0" marL="0">
              <a:buNone/>
            </a:pPr>
            <a:r>
              <a:rPr/>
              <a:t>Family-Wise Error Rate [FWER]/Bonferroni Correction: controls the probability of making at least one false positive</a:t>
            </a:r>
          </a:p>
          <a:p>
            <a:pPr lvl="0" indent="0" marL="0">
              <a:buNone/>
            </a:pPr>
            <a:r>
              <a:rPr/>
              <a:t>False Discovery Rate [FDR]/Benjamini-Hochberg Correction: controls the expected proportion of false positives among significant findings</a:t>
            </a:r>
          </a:p>
          <a:p>
            <a:pPr lvl="0"/>
            <a:r>
              <a:rPr/>
              <a:t>multiple hypothesis testing correction helps ensure that statistically significant findings remain scientifically credible when many hypotheses are evaluated simultaneously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Extending Hypothesis Testing to Multiple Comparisons</dc:title>
  <dc:creator> Lesley Chapman Hannah, Ph.D., M.S. College of Graduate Studies Northeast Ohio Medical University</dc:creator>
  <cp:keywords/>
  <dcterms:created xsi:type="dcterms:W3CDTF">2026-06-02T18:02:07Z</dcterms:created>
  <dcterms:modified xsi:type="dcterms:W3CDTF">2026-06-02T18:02:07Z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
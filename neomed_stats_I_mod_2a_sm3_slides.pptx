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7" Type="http://schemas.openxmlformats.org/officeDocument/2006/relationships/viewProps" Target="viewProps.xml" /><Relationship Id="rId2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9" Type="http://schemas.openxmlformats.org/officeDocument/2006/relationships/tableStyles" Target="tableStyles.xml" /><Relationship Id="rId28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Describing Continuous Data: Center, Spread, Shape, and Interval Probability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  <a:r>
              <a:rPr/>
              <a:t>Lesley Chapman Hannah, Ph.D., M.S.College of Graduate StudiesNortheast Ohio Medical University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Workflow for Describing Continuous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describing continuous data before modeling involves a simialr sequence of steps as described for discrete values:</a:t>
            </a:r>
          </a:p>
          <a:p>
            <a:pPr lvl="1" indent="-342900" marL="685800">
              <a:buAutoNum type="arabicPeriod"/>
            </a:pPr>
            <a:r>
              <a:rPr/>
              <a:t>define the observational unit</a:t>
            </a:r>
            <a:br/>
          </a:p>
          <a:p>
            <a:pPr lvl="1" indent="-342900" marL="685800">
              <a:buAutoNum type="arabicPeriod"/>
            </a:pPr>
            <a:r>
              <a:rPr/>
              <a:t>identify the variable as continuous</a:t>
            </a:r>
            <a:br/>
          </a:p>
          <a:p>
            <a:pPr lvl="1" indent="-342900" marL="685800">
              <a:buAutoNum type="arabicPeriod"/>
            </a:pPr>
            <a:r>
              <a:rPr/>
              <a:t>determine summaries of center and spread</a:t>
            </a:r>
            <a:br/>
          </a:p>
          <a:p>
            <a:pPr lvl="1" indent="-342900" marL="685800">
              <a:buAutoNum type="arabicPeriod"/>
            </a:pPr>
            <a:r>
              <a:rPr/>
              <a:t>evaluate distribution shape across the measurement scale</a:t>
            </a:r>
            <a:br/>
          </a:p>
          <a:p>
            <a:pPr lvl="1" indent="-342900" marL="685800">
              <a:buAutoNum type="arabicPeriod"/>
            </a:pPr>
            <a:r>
              <a:rPr/>
              <a:t>select visualizations that preserve numerical structure and distribution form</a:t>
            </a:r>
          </a:p>
          <a:p>
            <a:pPr lvl="0"/>
            <a:r>
              <a:rPr/>
              <a:t>numerical summaries and graphical displays with how quantitative values are recorded and help describe what the measurements represent across patients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Workflow and Descriptive Interpretation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Each step in the workflow defines a component of continuous measurements described by statistical summaries or plots:</a:t>
            </a:r>
          </a:p>
          <a:p>
            <a:pPr lvl="0"/>
            <a:r>
              <a:rPr>
                <a:latin typeface="Courier"/>
              </a:rPr>
              <a:t>observational unit</a:t>
            </a:r>
            <a:r>
              <a:rPr/>
              <a:t>: determines what one recorded value represents within the study design</a:t>
            </a:r>
            <a:br/>
          </a:p>
          <a:p>
            <a:pPr lvl="0"/>
            <a:r>
              <a:rPr>
                <a:latin typeface="Courier"/>
              </a:rPr>
              <a:t>continuous variable</a:t>
            </a:r>
            <a:r>
              <a:rPr/>
              <a:t>: defines the measurement as a quantitative value on a numerical scale</a:t>
            </a:r>
            <a:br/>
          </a:p>
          <a:p>
            <a:pPr lvl="0"/>
            <a:r>
              <a:rPr>
                <a:latin typeface="Courier"/>
              </a:rPr>
              <a:t>summary</a:t>
            </a:r>
            <a:r>
              <a:rPr/>
              <a:t>: quantifies central tendency and dispersion</a:t>
            </a:r>
            <a:br/>
          </a:p>
          <a:p>
            <a:pPr lvl="0"/>
            <a:r>
              <a:rPr>
                <a:latin typeface="Courier"/>
              </a:rPr>
              <a:t>distribution analysis</a:t>
            </a:r>
            <a:r>
              <a:rPr/>
              <a:t>: evaluates symmetry, skewness, tails, and concentration across the scale</a:t>
            </a:r>
            <a:br/>
          </a:p>
          <a:p>
            <a:pPr lvl="0"/>
            <a:r>
              <a:rPr>
                <a:latin typeface="Courier"/>
              </a:rPr>
              <a:t>probability representation</a:t>
            </a:r>
            <a:r>
              <a:rPr/>
              <a:t>: expresses how much of the sample falls within domain-specific ranges</a:t>
            </a:r>
            <a:br/>
          </a:p>
          <a:p>
            <a:pPr lvl="0"/>
            <a:r>
              <a:rPr>
                <a:latin typeface="Courier"/>
              </a:rPr>
              <a:t>visualization</a:t>
            </a:r>
            <a:r>
              <a:rPr/>
              <a:t>: encodes the distribution in a form that preserves scale, shape, and comparability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Define the Observational Unit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Review:</a:t>
            </a:r>
          </a:p>
          <a:p>
            <a:pPr lvl="0"/>
            <a:r>
              <a:rPr/>
              <a:t>observational unit is the entity represented by one row of data</a:t>
            </a:r>
          </a:p>
          <a:p>
            <a:pPr lvl="0"/>
            <a:r>
              <a:rPr/>
              <a:t>each observational unit contributes one numerical value measured on a quantitative scale</a:t>
            </a:r>
          </a:p>
          <a:p>
            <a:pPr lvl="0" indent="0" marL="0">
              <a:buNone/>
            </a:pPr>
            <a:r>
              <a:rPr/>
              <a:t>Continuous examples of observational units include:</a:t>
            </a:r>
          </a:p>
          <a:p>
            <a:pPr lvl="0"/>
            <a:r>
              <a:rPr/>
              <a:t>one patient encounter</a:t>
            </a:r>
            <a:br/>
          </a:p>
          <a:p>
            <a:pPr lvl="0"/>
            <a:r>
              <a:rPr/>
              <a:t>one blood draw</a:t>
            </a:r>
            <a:br/>
          </a:p>
          <a:p>
            <a:pPr lvl="0"/>
            <a:r>
              <a:rPr/>
              <a:t>one biopsy specimen</a:t>
            </a:r>
            <a:br/>
          </a:p>
          <a:p>
            <a:pPr lvl="0"/>
            <a:r>
              <a:rPr/>
              <a:t>one laboratory assay result</a:t>
            </a:r>
            <a:br/>
          </a:p>
          <a:p>
            <a:pPr lvl="0"/>
            <a:r>
              <a:rPr/>
              <a:t>one follow-up visit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Identify Continuous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After the observational unit is established, continuous variables are recognized by how values are recorded:</a:t>
            </a:r>
          </a:p>
          <a:p>
            <a:pPr lvl="0"/>
            <a:r>
              <a:rPr/>
              <a:t>values are quantitative rather than labels</a:t>
            </a:r>
            <a:br/>
          </a:p>
          <a:p>
            <a:pPr lvl="0"/>
            <a:r>
              <a:rPr/>
              <a:t>values can vary across a numerical scale</a:t>
            </a:r>
            <a:br/>
          </a:p>
          <a:p>
            <a:pPr lvl="0"/>
            <a:r>
              <a:rPr/>
              <a:t>values may take many distinct magnitudes within an interval</a:t>
            </a:r>
            <a:br/>
          </a:p>
          <a:p>
            <a:pPr lvl="0" indent="0" marL="0">
              <a:buNone/>
            </a:pPr>
            <a:r>
              <a:rPr/>
              <a:t>Examples in biomedical data include:</a:t>
            </a:r>
          </a:p>
          <a:p>
            <a:pPr lvl="0"/>
            <a:r>
              <a:rPr/>
              <a:t>cytokine concentration</a:t>
            </a:r>
            <a:br/>
          </a:p>
          <a:p>
            <a:pPr lvl="0"/>
            <a:r>
              <a:rPr/>
              <a:t>blood pressure</a:t>
            </a:r>
            <a:br/>
          </a:p>
          <a:p>
            <a:pPr lvl="0"/>
            <a:r>
              <a:rPr/>
              <a:t>serum creatinine</a:t>
            </a:r>
            <a:br/>
          </a:p>
          <a:p>
            <a:pPr lvl="0"/>
            <a:r>
              <a:rPr/>
              <a:t>tumor size</a:t>
            </a:r>
          </a:p>
          <a:p>
            <a:pPr lvl="0" indent="0" marL="0">
              <a:buNone/>
            </a:pPr>
            <a:r>
              <a:rPr/>
              <a:t>Descriptive summaries for continuous data help determine:</a:t>
            </a:r>
          </a:p>
          <a:p>
            <a:pPr lvl="0"/>
            <a:r>
              <a:rPr/>
              <a:t>where values are centered</a:t>
            </a:r>
            <a:br/>
          </a:p>
          <a:p>
            <a:pPr lvl="0"/>
            <a:r>
              <a:rPr/>
              <a:t>how widely values vary</a:t>
            </a:r>
            <a:br/>
          </a:p>
          <a:p>
            <a:pPr lvl="0"/>
            <a:r>
              <a:rPr/>
              <a:t>how values are distributed across the scale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Determine the Data Summary for Continuous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continuous variables are commonly described with summaries of center, spread, and shape :</a:t>
            </a:r>
          </a:p>
          <a:p>
            <a:pPr lvl="1"/>
            <a:r>
              <a:rPr>
                <a:latin typeface="Courier"/>
              </a:rPr>
              <a:t>mean</a:t>
            </a:r>
            <a:r>
              <a:rPr/>
              <a:t> : arithmetic center of the sample</a:t>
            </a:r>
            <a:br/>
          </a:p>
          <a:p>
            <a:pPr lvl="1"/>
            <a:r>
              <a:rPr>
                <a:latin typeface="Courier"/>
              </a:rPr>
              <a:t>median</a:t>
            </a:r>
            <a:r>
              <a:rPr/>
              <a:t> : middle ordered value</a:t>
            </a:r>
            <a:br/>
          </a:p>
          <a:p>
            <a:pPr lvl="1"/>
            <a:r>
              <a:rPr>
                <a:latin typeface="Courier"/>
              </a:rPr>
              <a:t>standard deviation</a:t>
            </a:r>
            <a:r>
              <a:rPr/>
              <a:t> : variability around the sample mean</a:t>
            </a:r>
            <a:br/>
          </a:p>
          <a:p>
            <a:pPr lvl="1"/>
            <a:r>
              <a:rPr>
                <a:latin typeface="Courier"/>
              </a:rPr>
              <a:t>interquartile range</a:t>
            </a:r>
            <a:r>
              <a:rPr/>
              <a:t> : spread of the middle 50% of observations</a:t>
            </a:r>
            <a:br/>
          </a:p>
          <a:p>
            <a:pPr lvl="1"/>
            <a:r>
              <a:rPr>
                <a:latin typeface="Courier"/>
              </a:rPr>
              <a:t>minimum and maximum</a:t>
            </a:r>
            <a:r>
              <a:rPr/>
              <a:t> : observed range endpoints</a:t>
            </a:r>
            <a:br/>
          </a:p>
          <a:p>
            <a:pPr lvl="1"/>
            <a:r>
              <a:rPr>
                <a:latin typeface="Courier"/>
              </a:rPr>
              <a:t>quantiles</a:t>
            </a:r>
            <a:r>
              <a:rPr/>
              <a:t> : positional summaries along the ordered scale</a:t>
            </a:r>
          </a:p>
          <a:p>
            <a:pPr lvl="0"/>
            <a:r>
              <a:rPr/>
              <a:t>no single summary fully describes a continuous distribution</a:t>
            </a:r>
          </a:p>
          <a:p>
            <a:pPr lvl="0"/>
            <a:r>
              <a:rPr/>
              <a:t>valid description combines numerical summaries with plots that show how values occupy the measurement scale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Continuous Distributions Describe Measurement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continuous distributions describe how measured values are organized across the numerical scale</a:t>
            </a:r>
          </a:p>
          <a:p>
            <a:pPr lvl="0"/>
            <a:r>
              <a:rPr/>
              <a:t>descriptive statistical analysis involves summarizing how values are distributed across observational units without removing the scale on which the measurements were recorded</a:t>
            </a:r>
          </a:p>
          <a:p>
            <a:pPr lvl="0" indent="0" marL="0">
              <a:buNone/>
            </a:pPr>
            <a:r>
              <a:rPr/>
              <a:t>For continuous variables, descriptive summaries show:</a:t>
            </a:r>
          </a:p>
          <a:p>
            <a:pPr lvl="0"/>
            <a:r>
              <a:rPr b="1"/>
              <a:t>center</a:t>
            </a:r>
            <a:r>
              <a:rPr/>
              <a:t> → where values tend to cluster along the scale</a:t>
            </a:r>
          </a:p>
          <a:p>
            <a:pPr lvl="0"/>
            <a:r>
              <a:rPr b="1"/>
              <a:t>spread</a:t>
            </a:r>
            <a:r>
              <a:rPr/>
              <a:t> → how widely values vary around the center</a:t>
            </a:r>
          </a:p>
          <a:p>
            <a:pPr lvl="0"/>
            <a:r>
              <a:rPr b="1"/>
              <a:t>shape</a:t>
            </a:r>
            <a:r>
              <a:rPr/>
              <a:t> → whether the distribution is symmetric, skewed, heavy-tailed, or multi-peaked</a:t>
            </a:r>
          </a:p>
          <a:p>
            <a:pPr lvl="0"/>
            <a:r>
              <a:rPr b="1"/>
              <a:t>range and tails</a:t>
            </a:r>
            <a:r>
              <a:rPr/>
              <a:t> → whether observations extend into unusually low or high values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Probability Quantifies Where Continuous Values Fall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For continuous data, descriptive probability is often expressed over an interval of values rather than at one exact value</a:t>
                </a:r>
              </a:p>
              <a:p>
                <a:pPr lvl="0" indent="0" marL="0">
                  <a:buNone/>
                </a:pPr>
                <a:r>
                  <a:rPr/>
                  <a:t>For a sample of size </a:t>
                </a:r>
                <a14:m>
                  <m:oMath xmlns:m="http://schemas.openxmlformats.org/officeDocument/2006/math">
                    <m:r>
                      <m:t>n</m:t>
                    </m:r>
                  </m:oMath>
                </a14:m>
                <a:r>
                  <a:rPr/>
                  <a:t>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acc>
                        <m:accPr>
                          <m:chr m:val="̂"/>
                        </m:accPr>
                        <m:e>
                          <m:r>
                            <m:t>P</m:t>
                          </m:r>
                        </m:e>
                      </m:acc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a</m:t>
                          </m:r>
                          <m:r>
                            <m:rPr>
                              <m:sty m:val="p"/>
                            </m:rPr>
                            <m:t>≤</m:t>
                          </m:r>
                          <m:r>
                            <m:t>X</m:t>
                          </m:r>
                          <m:r>
                            <m:rPr>
                              <m:sty m:val="p"/>
                            </m:rPr>
                            <m:t>≤</m:t>
                          </m:r>
                          <m:r>
                            <m:t>b</m:t>
                          </m:r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rPr>
                              <m:nor/>
                              <m:sty m:val="p"/>
                            </m:rPr>
                            <m:t>number of observations with values between </m:t>
                          </m:r>
                          <m:r>
                            <m:t>a</m:t>
                          </m:r>
                          <m:r>
                            <m:rPr>
                              <m:nor/>
                              <m:sty m:val="p"/>
                            </m:rPr>
                            <m:t> and </m:t>
                          </m:r>
                          <m:r>
                            <m:t>b</m:t>
                          </m:r>
                        </m:num>
                        <m:den>
                          <m:r>
                            <m:t>n</m:t>
                          </m:r>
                        </m:den>
                      </m:f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Formula defines the probability that a measured value falls within the interval from </a:t>
                </a:r>
                <a14:m>
                  <m:oMath xmlns:m="http://schemas.openxmlformats.org/officeDocument/2006/math">
                    <m:r>
                      <m:t>a</m:t>
                    </m:r>
                  </m:oMath>
                </a14:m>
                <a:r>
                  <a:rPr/>
                  <a:t> to </a:t>
                </a:r>
                <a14:m>
                  <m:oMath xmlns:m="http://schemas.openxmlformats.org/officeDocument/2006/math">
                    <m:r>
                      <m:t>b</m:t>
                    </m:r>
                  </m:oMath>
                </a14:m>
              </a:p>
              <a:p>
                <a:pPr lvl="0" indent="0" marL="0">
                  <a:buNone/>
                </a:pPr>
                <a:r>
                  <a:rPr/>
                  <a:t>Where:</a:t>
                </a:r>
              </a:p>
              <a:p>
                <a:pPr lvl="0"/>
                <a14:m>
                  <m:oMath xmlns:m="http://schemas.openxmlformats.org/officeDocument/2006/math">
                    <m:r>
                      <m:t>X</m:t>
                    </m:r>
                  </m:oMath>
                </a14:m>
                <a:r>
                  <a:rPr/>
                  <a:t> : continuous variable</a:t>
                </a:r>
                <a:br/>
              </a:p>
              <a:p>
                <a:pPr lvl="0"/>
                <a14:m>
                  <m:oMath xmlns:m="http://schemas.openxmlformats.org/officeDocument/2006/math">
                    <m:r>
                      <m:t>a</m:t>
                    </m:r>
                  </m:oMath>
                </a14:m>
                <a:r>
                  <a:rPr/>
                  <a:t> : lower bound of the interval</a:t>
                </a:r>
                <a:br/>
              </a:p>
              <a:p>
                <a:pPr lvl="0"/>
                <a14:m>
                  <m:oMath xmlns:m="http://schemas.openxmlformats.org/officeDocument/2006/math">
                    <m:r>
                      <m:t>b</m:t>
                    </m:r>
                  </m:oMath>
                </a14:m>
                <a:r>
                  <a:rPr/>
                  <a:t> : upper bound of the interval</a:t>
                </a:r>
                <a:br/>
              </a:p>
              <a:p>
                <a:pPr lvl="0"/>
                <a14:m>
                  <m:oMath xmlns:m="http://schemas.openxmlformats.org/officeDocument/2006/math">
                    <m:r>
                      <m:t>n</m:t>
                    </m:r>
                  </m:oMath>
                </a14:m>
                <a:r>
                  <a:rPr/>
                  <a:t> : total number of observations</a:t>
                </a:r>
              </a:p>
            </p:txBody>
          </p:sp>
        </mc:Choice>
      </mc:AlternateContent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Visualizations for Continuous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plots are chosen to preserve the numerical scale and reveal how values occupy that scale</a:t>
            </a:r>
          </a:p>
          <a:p>
            <a:pPr lvl="0" indent="0" marL="0">
              <a:buNone/>
            </a:pPr>
            <a:r>
              <a:rPr/>
              <a:t>Visualizations for continuous variables include:</a:t>
            </a:r>
          </a:p>
          <a:p>
            <a:pPr lvl="0"/>
            <a:r>
              <a:rPr>
                <a:latin typeface="Courier"/>
              </a:rPr>
              <a:t>histogram</a:t>
            </a:r>
            <a:r>
              <a:rPr/>
              <a:t> : shows how observations accumulate across intervals of the scale</a:t>
            </a:r>
            <a:br/>
          </a:p>
          <a:p>
            <a:pPr lvl="0"/>
            <a:r>
              <a:rPr>
                <a:latin typeface="Courier"/>
              </a:rPr>
              <a:t>density plot</a:t>
            </a:r>
            <a:r>
              <a:rPr/>
              <a:t> : shows a smooth estimate of distribution shape</a:t>
            </a:r>
            <a:br/>
          </a:p>
          <a:p>
            <a:pPr lvl="0"/>
            <a:r>
              <a:rPr>
                <a:latin typeface="Courier"/>
              </a:rPr>
              <a:t>boxplot</a:t>
            </a:r>
            <a:r>
              <a:rPr/>
              <a:t> : summarizes median, quartiles, and tail extension</a:t>
            </a:r>
            <a:br/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Data Overview: Continuous Biomarkers in Respiratory Infection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 b="1"/>
                  <a:t>Background</a:t>
                </a:r>
                <a:r>
                  <a:rPr/>
                  <a:t>: Suppose we observe inflammatory biomarkers collected from a cohort of patients evaluated for respiratory infection</a:t>
                </a:r>
              </a:p>
              <a:p>
                <a:pPr lvl="0" indent="0" marL="0">
                  <a:buNone/>
                </a:pPr>
                <a:r>
                  <a:rPr/>
                  <a:t>Each row represents one patient visit, and each variable records a continuous biological measurement:</a:t>
                </a:r>
              </a:p>
              <a:p>
                <a:pPr lvl="0"/>
                <a:r>
                  <a:rPr>
                    <a:latin typeface="Courier"/>
                  </a:rPr>
                  <a:t>il6</a:t>
                </a:r>
                <a:r>
                  <a:rPr/>
                  <a:t> : interleukin-6 concentration in [pg/mL]</a:t>
                </a:r>
                <a:br/>
              </a:p>
              <a:p>
                <a:pPr lvl="0"/>
                <a:r>
                  <a:rPr>
                    <a:latin typeface="Courier"/>
                  </a:rPr>
                  <a:t>tnf_alpha</a:t>
                </a:r>
                <a:r>
                  <a:rPr/>
                  <a:t> : tumor necrosis factor-alpha concentration in [pg/mL]</a:t>
                </a:r>
                <a:br/>
              </a:p>
              <a:p>
                <a:pPr lvl="0"/>
                <a:r>
                  <a:rPr>
                    <a:latin typeface="Courier"/>
                  </a:rPr>
                  <a:t>neutrophils</a:t>
                </a:r>
                <a:r>
                  <a:rPr/>
                  <a:t> : neutrophil count in units of [</a:t>
                </a:r>
                <a14:m>
                  <m:oMath xmlns:m="http://schemas.openxmlformats.org/officeDocument/2006/math">
                    <m:sSup>
                      <m:e>
                        <m:r>
                          <m:t>10</m:t>
                        </m:r>
                      </m:e>
                      <m:sup>
                        <m:r>
                          <m:t>9</m:t>
                        </m:r>
                      </m:sup>
                    </m:sSup>
                  </m:oMath>
                </a14:m>
                <a:r>
                  <a:rPr/>
                  <a:t>/L]</a:t>
                </a:r>
              </a:p>
              <a:p>
                <a:pPr lvl="0" indent="0" marL="0">
                  <a:buNone/>
                </a:pPr>
                <a:r>
                  <a:rPr/>
                  <a:t>Research Question:</a:t>
                </a:r>
              </a:p>
              <a:p>
                <a:pPr lvl="0" indent="0" marL="1270000">
                  <a:buNone/>
                </a:pPr>
                <a:r>
                  <a:rPr sz="2000"/>
                  <a:t>How are these biomarker values distributed across patients, and what do center, spread, and shape indicate about the observed sample?</a:t>
                </a:r>
              </a:p>
            </p:txBody>
          </p:sp>
        </mc:Choice>
      </mc:AlternateContent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Simulated Biomarker 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dataset of 220 patient-level observations, where each row corresponds to a single clinical visit and each column represents a continuous biomarker measurement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set.seed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303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biomarker_df &lt;- </a:t>
            </a:r>
            <a:r>
              <a:rPr>
                <a:solidFill>
                  <a:srgbClr val="4758AB"/>
                </a:solidFill>
                <a:latin typeface="Courier"/>
              </a:rPr>
              <a:t>tibble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patient_id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sprintf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"B%03d"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5E5E5E"/>
                </a:solidFill>
                <a:latin typeface="Courier"/>
              </a:rPr>
              <a:t>:</a:t>
            </a:r>
            <a:r>
              <a:rPr>
                <a:solidFill>
                  <a:srgbClr val="AD0000"/>
                </a:solidFill>
                <a:latin typeface="Courier"/>
              </a:rPr>
              <a:t>220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il6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rlnorm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220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meanlog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log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12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657422"/>
                </a:solidFill>
                <a:latin typeface="Courier"/>
              </a:rPr>
              <a:t>sdlog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0.70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tnf_alpha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rlnorm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220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meanlog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log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18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657422"/>
                </a:solidFill>
                <a:latin typeface="Courier"/>
              </a:rPr>
              <a:t>sdlog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0.45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neutrophils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rnorm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220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mean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5.9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1.3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biomarker_df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slice_head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8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8 × 4
  patient_id   il6 tnf_alpha neutrophils
  &lt;chr&gt;      &lt;dbl&gt;     &lt;dbl&gt;       &lt;dbl&gt;
1 B001        8.47      27.4        6.17
2 B002       14.6       15.1        4.6 
3 B003       15.7       16.1        4.85
4 B004       12.6       12.0        5.11
5 B005        8.01      19.9        8.88
6 B006       30.1       22.5        5.99
7 B007        4.96      22.8        5.72
8 B008        7.21      13.3        4.42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Mean and Median: Two Summaries of Center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 b="1"/>
                  <a:t>Mean</a:t>
                </a:r>
                <a:r>
                  <a:rPr/>
                  <a:t> is expressed as: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acc>
                        <m:accPr>
                          <m:chr m:val="‾"/>
                        </m:accPr>
                        <m:e>
                          <m:r>
                            <m:t>x</m:t>
                          </m:r>
                        </m:e>
                      </m:acc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t>1</m:t>
                          </m:r>
                        </m:num>
                        <m:den>
                          <m:r>
                            <m:t>n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subHide m:val="off"/>
                          <m:supHide m:val="off"/>
                        </m:naryPr>
                        <m:sub>
                          <m:r>
                            <m:t>i</m:t>
                          </m:r>
                          <m:r>
                            <m:rPr>
                              <m:sty m:val="p"/>
                            </m:rPr>
                            <m:t>=</m:t>
                          </m:r>
                          <m:r>
                            <m:t>1</m:t>
                          </m:r>
                        </m:sub>
                        <m:sup>
                          <m:r>
                            <m:t>n</m:t>
                          </m:r>
                        </m:sup>
                        <m:e>
                          <m:sSub>
                            <m:e>
                              <m:r>
                                <m:t>x</m:t>
                              </m:r>
                            </m:e>
                            <m:sub>
                              <m:r>
                                <m:t>i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Average of all observed values in the sample</a:t>
                </a:r>
              </a:p>
              <a:p>
                <a:pPr lvl="0" indent="0" marL="0">
                  <a:buNone/>
                </a:pPr>
                <a:r>
                  <a:rPr/>
                  <a:t>Where:</a:t>
                </a:r>
              </a:p>
              <a:p>
                <a:pPr lvl="0"/>
                <a14:m>
                  <m:oMath xmlns:m="http://schemas.openxmlformats.org/officeDocument/2006/math">
                    <m:acc>
                      <m:accPr>
                        <m:chr m:val="‾"/>
                      </m:accPr>
                      <m:e>
                        <m:r>
                          <m:t>x</m:t>
                        </m:r>
                      </m:e>
                    </m:acc>
                  </m:oMath>
                </a14:m>
                <a:r>
                  <a:rPr/>
                  <a:t> : sample mean</a:t>
                </a:r>
                <a:br/>
              </a:p>
              <a:p>
                <a:pPr lvl="0"/>
                <a14:m>
                  <m:oMath xmlns:m="http://schemas.openxmlformats.org/officeDocument/2006/math">
                    <m:r>
                      <m:t>n</m:t>
                    </m:r>
                  </m:oMath>
                </a14:m>
                <a:r>
                  <a:rPr/>
                  <a:t> : number of observations</a:t>
                </a:r>
                <a:br/>
              </a:p>
              <a:p>
                <a:pPr lvl="0"/>
                <a14:m>
                  <m:oMath xmlns:m="http://schemas.openxmlformats.org/officeDocument/2006/math">
                    <m:sSub>
                      <m:e>
                        <m:r>
                          <m:t>x</m:t>
                        </m:r>
                      </m:e>
                      <m:sub>
                        <m:r>
                          <m:t>i</m:t>
                        </m:r>
                      </m:sub>
                    </m:sSub>
                  </m:oMath>
                </a14:m>
                <a:r>
                  <a:rPr/>
                  <a:t> : observed value for the </a:t>
                </a:r>
                <a14:m>
                  <m:oMath xmlns:m="http://schemas.openxmlformats.org/officeDocument/2006/math">
                    <m:r>
                      <m:t>i</m:t>
                    </m:r>
                  </m:oMath>
                </a14:m>
                <a:r>
                  <a:rPr/>
                  <a:t>th observational unit</a:t>
                </a:r>
                <a:br/>
              </a:p>
              <a:p>
                <a:pPr lvl="0"/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</m:naryPr>
                      <m:sub>
                        <m:r>
                          <m:t>i</m:t>
                        </m:r>
                        <m:r>
                          <m:rPr>
                            <m:sty m:val="p"/>
                          </m:rPr>
                          <m:t>=</m:t>
                        </m:r>
                        <m:r>
                          <m:t>1</m:t>
                        </m:r>
                      </m:sub>
                      <m:sup>
                        <m:r>
                          <m:t>n</m:t>
                        </m:r>
                      </m:sup>
                      <m:e>
                        <m:sSub>
                          <m:e>
                            <m:r>
                              <m:t>x</m:t>
                            </m:r>
                          </m:e>
                          <m:sub>
                            <m:r>
                              <m:t>i</m:t>
                            </m:r>
                          </m:sub>
                        </m:sSub>
                      </m:e>
                    </m:nary>
                  </m:oMath>
                </a14:m>
                <a:r>
                  <a:rPr/>
                  <a:t> : total of all observed values</a:t>
                </a:r>
              </a:p>
              <a:p>
                <a:pPr lvl="0" indent="0" marL="0">
                  <a:buNone/>
                </a:pPr>
                <a:r>
                  <a:rPr b="1"/>
                  <a:t>Median</a:t>
                </a:r>
                <a:r>
                  <a:rPr/>
                  <a:t> : middle value after the sample is ordered from smallest to largest</a:t>
                </a:r>
              </a:p>
              <a:p>
                <a:pPr lvl="0"/>
                <a:r>
                  <a:rPr/>
                  <a:t>mean uses the magnitude of every value</a:t>
                </a:r>
                <a:br/>
              </a:p>
              <a:p>
                <a:pPr lvl="0"/>
                <a:r>
                  <a:rPr/>
                  <a:t>median uses the order of values in the sample</a:t>
                </a:r>
              </a:p>
            </p:txBody>
          </p:sp>
        </mc:Choice>
      </mc:AlternateContent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Standard Deviation and Interquartile Range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 b="1"/>
                  <a:t>Standard deviation</a:t>
                </a:r>
                <a:r>
                  <a:rPr/>
                  <a:t>:</a:t>
                </a:r>
              </a:p>
              <a:p>
                <a:pPr lvl="0"/>
                <a:r>
                  <a:rPr/>
                  <a:t>measure that captures variability around the mean</a:t>
                </a:r>
              </a:p>
              <a:p>
                <a:pPr lvl="0"/>
                <a:r>
                  <a:rPr/>
                  <a:t>summary of dispersion that quantifies how far observations extend from the mean across the entire distribution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s</m:t>
                      </m:r>
                      <m:r>
                        <m:rPr>
                          <m:sty m:val="p"/>
                        </m:rPr>
                        <m:t>=</m:t>
                      </m:r>
                      <m:rad>
                        <m:radPr>
                          <m:degHide m:val="on"/>
                        </m:radPr>
                        <m:deg/>
                        <m:e>
                          <m:f>
                            <m:fPr>
                              <m:type m:val="bar"/>
                            </m:fPr>
                            <m:num>
                              <m:r>
                                <m:t>1</m:t>
                              </m:r>
                            </m:num>
                            <m:den>
                              <m:r>
                                <m:t>n</m:t>
                              </m:r>
                              <m:r>
                                <m:rPr>
                                  <m:sty m:val="p"/>
                                </m:rPr>
                                <m:t>−</m:t>
                              </m:r>
                              <m:r>
                                <m:t>1</m:t>
                              </m:r>
                            </m:den>
                          </m:f>
                          <m:r>
                            <m:rPr>
                              <m:sty m:val="p"/>
                            </m:rPr>
                            <m:t>∑</m:t>
                          </m:r>
                          <m:sSup>
                            <m:e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/>
                                </m:dPr>
                                <m:e>
                                  <m:sSub>
                                    <m:e>
                                      <m:r>
                                        <m:t>x</m:t>
                                      </m:r>
                                    </m:e>
                                    <m:sub>
                                      <m:r>
                                        <m:t>i</m:t>
                                      </m:r>
                                    </m:sub>
                                  </m:sSub>
                                  <m:r>
                                    <m:rPr>
                                      <m:sty m:val="p"/>
                                    </m:rPr>
                                    <m:t>−</m:t>
                                  </m:r>
                                  <m:acc>
                                    <m:accPr>
                                      <m:chr m:val="‾"/>
                                    </m:accPr>
                                    <m:e>
                                      <m:r>
                                        <m:t>x</m:t>
                                      </m:r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Where:</a:t>
                </a:r>
              </a:p>
              <a:p>
                <a:pPr lvl="0"/>
                <a14:m>
                  <m:oMath xmlns:m="http://schemas.openxmlformats.org/officeDocument/2006/math">
                    <m:r>
                      <m:t>s</m:t>
                    </m:r>
                  </m:oMath>
                </a14:m>
                <a:r>
                  <a:rPr/>
                  <a:t> : sample standard deviation</a:t>
                </a:r>
                <a:br/>
              </a:p>
              <a:p>
                <a:pPr lvl="0"/>
                <a14:m>
                  <m:oMath xmlns:m="http://schemas.openxmlformats.org/officeDocument/2006/math">
                    <m:sSub>
                      <m:e>
                        <m:r>
                          <m:t>x</m:t>
                        </m:r>
                      </m:e>
                      <m:sub>
                        <m:r>
                          <m:t>i</m:t>
                        </m:r>
                      </m:sub>
                    </m:sSub>
                  </m:oMath>
                </a14:m>
                <a:r>
                  <a:rPr/>
                  <a:t> : observed value for the </a:t>
                </a:r>
                <a14:m>
                  <m:oMath xmlns:m="http://schemas.openxmlformats.org/officeDocument/2006/math">
                    <m:r>
                      <m:t>i</m:t>
                    </m:r>
                  </m:oMath>
                </a14:m>
                <a:r>
                  <a:rPr/>
                  <a:t>th observation</a:t>
                </a:r>
                <a:br/>
              </a:p>
              <a:p>
                <a:pPr lvl="0"/>
                <a14:m>
                  <m:oMath xmlns:m="http://schemas.openxmlformats.org/officeDocument/2006/math">
                    <m:acc>
                      <m:accPr>
                        <m:chr m:val="‾"/>
                      </m:accPr>
                      <m:e>
                        <m:r>
                          <m:t>x</m:t>
                        </m:r>
                      </m:e>
                    </m:acc>
                  </m:oMath>
                </a14:m>
                <a:r>
                  <a:rPr/>
                  <a:t> : sample mean</a:t>
                </a:r>
                <a:br/>
              </a:p>
              <a:p>
                <a:pPr lvl="0"/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</m:dPr>
                          <m:e>
                            <m:sSub>
                              <m:e>
                                <m:r>
                                  <m:t>x</m:t>
                                </m:r>
                              </m:e>
                              <m:sub>
                                <m:r>
                                  <m:t>i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m:t>−</m:t>
                            </m:r>
                            <m:acc>
                              <m:accPr>
                                <m:chr m:val="‾"/>
                              </m:accPr>
                              <m:e>
                                <m:r>
                                  <m:t>x</m:t>
                                </m:r>
                              </m:e>
                            </m:acc>
                          </m:e>
                        </m:d>
                      </m:e>
                      <m:sup>
                        <m:r>
                          <m:t>2</m:t>
                        </m:r>
                      </m:sup>
                    </m:sSup>
                  </m:oMath>
                </a14:m>
                <a:r>
                  <a:rPr/>
                  <a:t> : squared deviation from the mean</a:t>
                </a:r>
                <a:br/>
              </a:p>
              <a:p>
                <a:pPr lvl="0"/>
                <a14:m>
                  <m:oMath xmlns:m="http://schemas.openxmlformats.org/officeDocument/2006/math">
                    <m:r>
                      <m:t>n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1</m:t>
                    </m:r>
                  </m:oMath>
                </a14:m>
                <a:r>
                  <a:rPr/>
                  <a:t> : denominator used for the sample-based estimate of variability</a:t>
                </a:r>
              </a:p>
            </p:txBody>
          </p:sp>
        </mc:Choice>
      </mc:AlternateContent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Standard Deviation and Interquartile Range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 b="1"/>
                  <a:t>Interquartile Range</a:t>
                </a:r>
                <a:r>
                  <a:rPr/>
                  <a:t>:</a:t>
                </a:r>
              </a:p>
              <a:p>
                <a:pPr lvl="0"/>
                <a:r>
                  <a:rPr/>
                  <a:t>width of the central interval containing the middle 50% of ordered observations</a:t>
                </a:r>
              </a:p>
              <a:p>
                <a:pPr lvl="0"/>
                <a:r>
                  <a:rPr/>
                  <a:t>measure of dispersion</a:t>
                </a:r>
              </a:p>
              <a:p>
                <a:pPr lvl="0"/>
                <a:r>
                  <a:rPr/>
                  <a:t>summary statistic for skewed variables and data with outliers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I</m:t>
                      </m:r>
                      <m:r>
                        <m:t>Q</m:t>
                      </m:r>
                      <m:r>
                        <m:t>R</m:t>
                      </m:r>
                      <m:r>
                        <m:rPr>
                          <m:sty m:val="p"/>
                        </m:rPr>
                        <m:t>=</m:t>
                      </m:r>
                      <m:sSub>
                        <m:e>
                          <m:r>
                            <m:t>Q</m:t>
                          </m:r>
                        </m:e>
                        <m:sub>
                          <m:r>
                            <m:t>3</m:t>
                          </m:r>
                        </m:sub>
                      </m:sSub>
                      <m:r>
                        <m:rPr>
                          <m:sty m:val="p"/>
                        </m:rPr>
                        <m:t>−</m:t>
                      </m:r>
                      <m:sSub>
                        <m:e>
                          <m:r>
                            <m:t>Q</m:t>
                          </m:r>
                        </m:e>
                        <m:sub>
                          <m:r>
                            <m:t>1</m:t>
                          </m:r>
                        </m:sub>
                      </m:sSub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Where:</a:t>
                </a:r>
              </a:p>
              <a:p>
                <a:pPr lvl="0"/>
                <a14:m>
                  <m:oMath xmlns:m="http://schemas.openxmlformats.org/officeDocument/2006/math">
                    <m:sSub>
                      <m:e>
                        <m:r>
                          <m:t>Q</m:t>
                        </m:r>
                      </m:e>
                      <m:sub>
                        <m:r>
                          <m:t>1</m:t>
                        </m:r>
                      </m:sub>
                    </m:sSub>
                  </m:oMath>
                </a14:m>
                <a:r>
                  <a:rPr/>
                  <a:t> : 25th percentile [value below which 25% of observations fall]</a:t>
                </a:r>
              </a:p>
              <a:p>
                <a:pPr lvl="0"/>
                <a14:m>
                  <m:oMath xmlns:m="http://schemas.openxmlformats.org/officeDocument/2006/math">
                    <m:sSub>
                      <m:e>
                        <m:r>
                          <m:t>Q</m:t>
                        </m:r>
                      </m:e>
                      <m:sub>
                        <m:r>
                          <m:t>3</m:t>
                        </m:r>
                      </m:sub>
                    </m:sSub>
                  </m:oMath>
                </a14:m>
                <a:r>
                  <a:rPr/>
                  <a:t> : 75th percentile [value below which 75% of observations fall]</a:t>
                </a:r>
              </a:p>
            </p:txBody>
          </p:sp>
        </mc:Choice>
      </mc:AlternateContent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Numerical Summary for IL-6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# A tibble: 1 × 8
  mean_il6 median_il6 sd_il6 iqr_il6 q1_il6 q3_il6 min_il6 max_il6
     &lt;dbl&gt;      &lt;dbl&gt;  &lt;dbl&gt;   &lt;dbl&gt;  &lt;dbl&gt;  &lt;dbl&gt;   &lt;dbl&gt;   &lt;dbl&gt;
1     14.7       11.7   10.6    12.3   7.26   19.5    1.77    71.7</a:t>
            </a:r>
          </a:p>
          <a:p>
            <a:pPr lvl="0" indent="0" marL="0">
              <a:buNone/>
            </a:pPr>
            <a:r>
              <a:rPr b="1"/>
              <a:t>Interpretation</a:t>
            </a:r>
          </a:p>
          <a:p>
            <a:pPr lvl="0"/>
            <a:r>
              <a:rPr>
                <a:latin typeface="Courier"/>
              </a:rPr>
              <a:t>mean_il6</a:t>
            </a:r>
            <a:r>
              <a:rPr/>
              <a:t> [14.7]: average of IL-6 concentrations across all patients</a:t>
            </a:r>
          </a:p>
          <a:p>
            <a:pPr lvl="0"/>
            <a:r>
              <a:rPr>
                <a:latin typeface="Courier"/>
              </a:rPr>
              <a:t>median_il6</a:t>
            </a:r>
            <a:r>
              <a:rPr/>
              <a:t> [11.7]: 50th percentile of the ordered IL-6 values</a:t>
            </a:r>
          </a:p>
          <a:p>
            <a:pPr lvl="1"/>
            <a:r>
              <a:rPr/>
              <a:t>point at which half of observations fall below and half above</a:t>
            </a:r>
          </a:p>
          <a:p>
            <a:pPr lvl="0"/>
            <a:r>
              <a:rPr>
                <a:latin typeface="Courier"/>
              </a:rPr>
              <a:t>sd_il6</a:t>
            </a:r>
            <a:r>
              <a:rPr/>
              <a:t> [10.6]: quantifies the overall dispersion of IL-6 values around the mean</a:t>
            </a:r>
          </a:p>
          <a:p>
            <a:pPr lvl="1"/>
            <a:r>
              <a:rPr/>
              <a:t>variability across the full distribution</a:t>
            </a:r>
          </a:p>
          <a:p>
            <a:pPr lvl="0"/>
            <a:r>
              <a:rPr>
                <a:latin typeface="Courier"/>
              </a:rPr>
              <a:t>iqr_il6</a:t>
            </a:r>
            <a:r>
              <a:rPr/>
              <a:t> [12.3]: range spanned by the central 50% of IL-6 values</a:t>
            </a:r>
          </a:p>
          <a:p>
            <a:pPr lvl="1"/>
            <a:r>
              <a:rPr/>
              <a:t>measure of variability that reflects the spread of the majority of observations</a:t>
            </a:r>
          </a:p>
          <a:p>
            <a:pPr lvl="0"/>
            <a:r>
              <a:rPr>
                <a:latin typeface="Courier"/>
              </a:rPr>
              <a:t>q1_il6</a:t>
            </a:r>
            <a:r>
              <a:rPr/>
              <a:t> [7.26] and </a:t>
            </a:r>
            <a:r>
              <a:rPr>
                <a:latin typeface="Courier"/>
              </a:rPr>
              <a:t>q3_il6</a:t>
            </a:r>
            <a:r>
              <a:rPr/>
              <a:t> [19.5]: 50% of IL-6 values fall between 7.26 and 19.5 pg/mL</a:t>
            </a:r>
          </a:p>
          <a:p>
            <a:pPr lvl="1"/>
            <a:r>
              <a:rPr/>
              <a:t>interval captures the central concentration range of the sample</a:t>
            </a:r>
          </a:p>
          <a:p>
            <a:pPr lvl="0"/>
            <a:r>
              <a:rPr>
                <a:latin typeface="Courier"/>
              </a:rPr>
              <a:t>min_il6</a:t>
            </a:r>
            <a:r>
              <a:rPr/>
              <a:t> [1.77] and </a:t>
            </a:r>
            <a:r>
              <a:rPr>
                <a:latin typeface="Courier"/>
              </a:rPr>
              <a:t>max_il6</a:t>
            </a:r>
            <a:r>
              <a:rPr/>
              <a:t> [71.7]: lower and upper bounds of IL-6 in the sample</a:t>
            </a:r>
          </a:p>
          <a:p>
            <a:pPr lvl="0" indent="0" marL="0">
              <a:buNone/>
            </a:pPr>
            <a:r>
              <a:rPr/>
              <a:t>Example: focus on evaluating IL-6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IL-6 Distribution: Histogram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</a:p>
              <a:p>
                <a:pPr lvl="0" indent="0" marL="0">
                  <a:buNone/>
                </a:pPr>
                <a:r>
                  <a:rPr b="1"/>
                  <a:t>Interpretation</a:t>
                </a:r>
              </a:p>
              <a:p>
                <a:pPr lvl="0"/>
                <a:r>
                  <a:rPr/>
                  <a:t>right-skewed histogram shows how a continuous biomarker (IL-6 concentration) is distributed across patients</a:t>
                </a:r>
              </a:p>
              <a:p>
                <a:pPr lvl="0"/>
                <a:r>
                  <a:rPr/>
                  <a:t>tallest bars indicate the IL-6 concentration range where most patients are observed</a:t>
                </a:r>
              </a:p>
              <a:p>
                <a:pPr lvl="0"/>
                <a:r>
                  <a:rPr/>
                  <a:t>bars at high values represent patients with elevated inflammatory response</a:t>
                </a:r>
              </a:p>
              <a:p>
                <a:pPr lvl="0"/>
                <a:r>
                  <a:rPr/>
                  <a:t>horizontal spread of the bars shows that IL-6 values range widely</a:t>
                </a:r>
              </a:p>
              <a:p>
                <a:pPr lvl="0"/>
                <a:r>
                  <a:rPr/>
                  <a:t>long tail extending to the right indicates right-skewness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small number of patients have substantially higher IL-6 levels</a:t>
                </a:r>
              </a:p>
            </p:txBody>
          </p:sp>
        </mc:Choice>
      </mc:AlternateContent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IL-6 Distribution : Density Plot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Interpretation</a:t>
            </a:r>
          </a:p>
          <a:p>
            <a:pPr lvl="0"/>
            <a:r>
              <a:rPr/>
              <a:t>density plot : smooth representation of how IL-6 values are distributed across patient observations</a:t>
            </a:r>
          </a:p>
          <a:p>
            <a:pPr lvl="0"/>
            <a:r>
              <a:rPr/>
              <a:t>distribution is right-skewed, with most values concentrated around 10–15 pg/mL [region representing the most common range of observed values]</a:t>
            </a:r>
          </a:p>
          <a:p>
            <a:pPr lvl="0"/>
            <a:r>
              <a:rPr/>
              <a:t>curve is right-skewed gradually declines as IL-6 increases, showing that higher concentrations occur less frequently</a:t>
            </a:r>
          </a:p>
          <a:p>
            <a:pPr lvl="0"/>
            <a:r>
              <a:rPr/>
              <a:t>values span a wide range, extending from low concentrations to substantially elevated values [above ~50 pg/mL]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IL-6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Interpretation</a:t>
            </a:r>
          </a:p>
          <a:p>
            <a:pPr lvl="0"/>
            <a:r>
              <a:rPr/>
              <a:t>bars show how IL-6 observations accumulate across intervals of the measurement scale</a:t>
            </a:r>
          </a:p>
          <a:p>
            <a:pPr lvl="0"/>
            <a:r>
              <a:rPr/>
              <a:t>density curve traces the smooth distributional shape implied by those observations</a:t>
            </a:r>
          </a:p>
          <a:p>
            <a:pPr lvl="0"/>
            <a:r>
              <a:rPr/>
              <a:t>agreement between the bars and the curve confirms the main concentration of the sample</a:t>
            </a:r>
          </a:p>
          <a:p>
            <a:pPr lvl="0" indent="0" marL="0">
              <a:buNone/>
            </a:pPr>
            <a:r>
              <a:rPr/>
              <a:t>Note:</a:t>
            </a:r>
          </a:p>
          <a:p>
            <a:pPr lvl="0"/>
            <a:r>
              <a:rPr>
                <a:latin typeface="Courier"/>
              </a:rPr>
              <a:t>histogram</a:t>
            </a:r>
            <a:r>
              <a:rPr/>
              <a:t> displays how many observations fall within intervals</a:t>
            </a:r>
          </a:p>
          <a:p>
            <a:pPr lvl="0"/>
            <a:r>
              <a:rPr>
                <a:latin typeface="Courier"/>
              </a:rPr>
              <a:t>density plot</a:t>
            </a:r>
            <a:r>
              <a:rPr/>
              <a:t> estimates how probability is distributed across a continuous scale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IL-6: Boxplot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>
                  <a:buNone/>
                </a:pPr>
                <a:r>
                  <a:rPr>
                    <a:solidFill>
                      <a:srgbClr val="4758AB"/>
                    </a:solidFill>
                    <a:latin typeface="Courier"/>
                  </a:rPr>
                  <a:t>ggplot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(biomarker_df, </a:t>
                </a:r>
                <a:r>
                  <a:rPr>
                    <a:solidFill>
                      <a:srgbClr val="4758AB"/>
                    </a:solidFill>
                    <a:latin typeface="Courier"/>
                  </a:rPr>
                  <a:t>aes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(</a:t>
                </a:r>
                <a:r>
                  <a:rPr>
                    <a:solidFill>
                      <a:srgbClr val="657422"/>
                    </a:solidFill>
                    <a:latin typeface="Courier"/>
                  </a:rPr>
                  <a:t>y =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 il6)) </a:t>
                </a:r>
                <a:r>
                  <a:rPr>
                    <a:solidFill>
                      <a:srgbClr val="5E5E5E"/>
                    </a:solidFill>
                    <a:latin typeface="Courier"/>
                  </a:rPr>
                  <a:t>+</a:t>
                </a:r>
                <a:br/>
                <a:r>
                  <a:rPr>
                    <a:solidFill>
                      <a:srgbClr val="003B4F"/>
                    </a:solidFill>
                    <a:latin typeface="Courier"/>
                  </a:rPr>
                  <a:t>  </a:t>
                </a:r>
                <a:r>
                  <a:rPr>
                    <a:solidFill>
                      <a:srgbClr val="4758AB"/>
                    </a:solidFill>
                    <a:latin typeface="Courier"/>
                  </a:rPr>
                  <a:t>geom_boxplot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() </a:t>
                </a:r>
                <a:r>
                  <a:rPr>
                    <a:solidFill>
                      <a:srgbClr val="5E5E5E"/>
                    </a:solidFill>
                    <a:latin typeface="Courier"/>
                  </a:rPr>
                  <a:t>+</a:t>
                </a:r>
                <a:br/>
                <a:r>
                  <a:rPr>
                    <a:solidFill>
                      <a:srgbClr val="003B4F"/>
                    </a:solidFill>
                    <a:latin typeface="Courier"/>
                  </a:rPr>
                  <a:t>  </a:t>
                </a:r>
                <a:r>
                  <a:rPr>
                    <a:solidFill>
                      <a:srgbClr val="4758AB"/>
                    </a:solidFill>
                    <a:latin typeface="Courier"/>
                  </a:rPr>
                  <a:t>labs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(</a:t>
                </a:r>
                <a:br/>
                <a:r>
                  <a:rPr>
                    <a:solidFill>
                      <a:srgbClr val="003B4F"/>
                    </a:solidFill>
                    <a:latin typeface="Courier"/>
                  </a:rPr>
                  <a:t>    </a:t>
                </a:r>
                <a:r>
                  <a:rPr>
                    <a:solidFill>
                      <a:srgbClr val="657422"/>
                    </a:solidFill>
                    <a:latin typeface="Courier"/>
                  </a:rPr>
                  <a:t>title =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 </a:t>
                </a:r>
                <a:r>
                  <a:rPr>
                    <a:solidFill>
                      <a:srgbClr val="20794D"/>
                    </a:solidFill>
                    <a:latin typeface="Courier"/>
                  </a:rPr>
                  <a:t>"Boxplot of IL-6 Concentration"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,</a:t>
                </a:r>
                <a:br/>
                <a:r>
                  <a:rPr>
                    <a:solidFill>
                      <a:srgbClr val="003B4F"/>
                    </a:solidFill>
                    <a:latin typeface="Courier"/>
                  </a:rPr>
                  <a:t>    </a:t>
                </a:r>
                <a:r>
                  <a:rPr>
                    <a:solidFill>
                      <a:srgbClr val="657422"/>
                    </a:solidFill>
                    <a:latin typeface="Courier"/>
                  </a:rPr>
                  <a:t>y =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 </a:t>
                </a:r>
                <a:r>
                  <a:rPr>
                    <a:solidFill>
                      <a:srgbClr val="20794D"/>
                    </a:solidFill>
                    <a:latin typeface="Courier"/>
                  </a:rPr>
                  <a:t>"IL-6 (pg/mL)"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,</a:t>
                </a:r>
                <a:br/>
                <a:r>
                  <a:rPr>
                    <a:solidFill>
                      <a:srgbClr val="003B4F"/>
                    </a:solidFill>
                    <a:latin typeface="Courier"/>
                  </a:rPr>
                  <a:t>    </a:t>
                </a:r>
                <a:r>
                  <a:rPr>
                    <a:solidFill>
                      <a:srgbClr val="657422"/>
                    </a:solidFill>
                    <a:latin typeface="Courier"/>
                  </a:rPr>
                  <a:t>x =</a:t>
                </a:r>
                <a:r>
                  <a:rPr>
                    <a:solidFill>
                      <a:srgbClr val="003B4F"/>
                    </a:solidFill>
                    <a:latin typeface="Courier"/>
                  </a:rPr>
                  <a:t> </a:t>
                </a:r>
                <a:r>
                  <a:rPr>
                    <a:solidFill>
                      <a:srgbClr val="8F5902"/>
                    </a:solidFill>
                    <a:latin typeface="Courier"/>
                  </a:rPr>
                  <a:t>NULL</a:t>
                </a:r>
                <a:br/>
                <a:r>
                  <a:rPr>
                    <a:solidFill>
                      <a:srgbClr val="003B4F"/>
                    </a:solidFill>
                    <a:latin typeface="Courier"/>
                  </a:rPr>
                  <a:t>  )</a:t>
                </a:r>
              </a:p>
              <a:p>
                <a:pPr lvl="0" indent="0" marL="0">
                  <a:buNone/>
                </a:pPr>
              </a:p>
              <a:p>
                <a:pPr lvl="0" indent="0" marL="0">
                  <a:buNone/>
                </a:pPr>
                <a:r>
                  <a:rPr b="1"/>
                  <a:t>Interpretation</a:t>
                </a:r>
              </a:p>
              <a:p>
                <a:pPr lvl="0"/>
                <a:r>
                  <a:rPr/>
                  <a:t>boxplot summarizes the distribution of IL-6 concentrations across patient observations using quartiles and the median</a:t>
                </a:r>
              </a:p>
              <a:p>
                <a:pPr lvl="0"/>
                <a:r>
                  <a:rPr/>
                  <a:t>line inside the box marks the median</a:t>
                </a:r>
              </a:p>
              <a:p>
                <a:pPr lvl="0"/>
                <a:r>
                  <a:rPr/>
                  <a:t>lower and upper box boundaries mark 𝑄1 and 𝑄3</a:t>
                </a:r>
              </a:p>
              <a:p>
                <a:pPr lvl="0"/>
                <a:r>
                  <a:rPr/>
                  <a:t>height of the box corresponds to the interquartile range</a:t>
                </a:r>
              </a:p>
              <a:p>
                <a:pPr lvl="0"/>
                <a:r>
                  <a:rPr/>
                  <a:t>points beyond the whiskers indicate outliers</a:t>
                </a:r>
              </a:p>
              <a:p>
                <a:pPr lvl="0"/>
                <a:r>
                  <a:rPr/>
                  <a:t>median IL-6 concentration is approximately 11.7 pg/mL, indicating the central location of the distribution</a:t>
                </a:r>
              </a:p>
              <a:p>
                <a:pPr lvl="0"/>
                <a:r>
                  <a:rPr/>
                  <a:t>interquartile range (IQR ≈ 12.3 pg/mL) : moderate spread among the central observations</a:t>
                </a:r>
              </a:p>
              <a:p>
                <a:pPr lvl="0"/>
                <a:r>
                  <a:rPr/>
                  <a:t>middle 50% of values lies between </a:t>
                </a:r>
                <a14:m>
                  <m:oMath xmlns:m="http://schemas.openxmlformats.org/officeDocument/2006/math">
                    <m:sSub>
                      <m:e>
                        <m:r>
                          <m:t>Q</m:t>
                        </m:r>
                      </m:e>
                      <m:sub>
                        <m: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m:t>≈</m:t>
                    </m:r>
                    <m:r>
                      <m:t>7.26</m:t>
                    </m:r>
                  </m:oMath>
                </a14:m>
                <a:r>
                  <a:rPr/>
                  <a:t> pg/mL and </a:t>
                </a:r>
                <a14:m>
                  <m:oMath xmlns:m="http://schemas.openxmlformats.org/officeDocument/2006/math">
                    <m:sSub>
                      <m:e>
                        <m:r>
                          <m:t>Q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m:t>≈</m:t>
                    </m:r>
                    <m:r>
                      <m:t>19.5</m:t>
                    </m:r>
                  </m:oMath>
                </a14:m>
                <a:r>
                  <a:rPr/>
                  <a:t> pg/mL, defining the primary concentration range</a:t>
                </a:r>
              </a:p>
            </p:txBody>
          </p:sp>
        </mc:Choice>
      </mc:AlternateContent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IL-6: Histogram to Probability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continuous biomarker such as IL-6 can be treated as a random variable: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X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rPr>
                          <m:nor/>
                          <m:sty m:val="p"/>
                        </m:rPr>
                        <m:t>IL-6 concentration [pg/mL]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probability helps answer:</a:t>
                </a:r>
              </a:p>
              <a:p>
                <a:pPr lvl="0"/>
                <a:r>
                  <a:rPr/>
                  <a:t>how likely are different IL-6 values?</a:t>
                </a:r>
              </a:p>
              <a:p>
                <a:pPr lvl="0"/>
                <a:r>
                  <a:rPr/>
                  <a:t>where is probability concentrated?</a:t>
                </a:r>
              </a:p>
              <a:p>
                <a:pPr lvl="0"/>
                <a:r>
                  <a:rPr/>
                  <a:t>how does probability change across the measurement scale?</a:t>
                </a:r>
              </a:p>
            </p:txBody>
          </p:sp>
        </mc:Choice>
      </mc:AlternateContent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IL-6: Histogram to Probability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histogram approximates how probability is distributed across intervals of IL-6</a:t>
                </a:r>
              </a:p>
              <a:p>
                <a:pPr lvl="1"/>
                <a:r>
                  <a:rPr/>
                  <a:t>bar height reflects relative frequency, which approximates probability</a:t>
                </a:r>
              </a:p>
              <a:p>
                <a:pPr lvl="1"/>
                <a:r>
                  <a:rPr/>
                  <a:t>dividing counts by total sample size converts counts into approximate probabilities</a:t>
                </a:r>
              </a:p>
              <a:p>
                <a:pPr lvl="0" indent="0" marL="0">
                  <a:buNone/>
                </a:pPr>
                <a:r>
                  <a:rPr b="1"/>
                  <a:t>Interpretation</a:t>
                </a:r>
              </a:p>
              <a:p>
                <a:pPr lvl="0"/>
                <a:r>
                  <a:rPr/>
                  <a:t>regions with taller bars correspond to higher probability density</a:t>
                </a:r>
              </a:p>
              <a:p>
                <a:pPr lvl="0"/>
                <a:r>
                  <a:rPr/>
                  <a:t>low bars in the right tail indicate low-probability</a:t>
                </a:r>
              </a:p>
              <a:p>
                <a:pPr lvl="0"/>
                <a:r>
                  <a:rPr/>
                  <a:t>total area across all bars corresponds to probability ≈ 1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nor/>
                          <m:sty m:val="p"/>
                        </m:rPr>
                        <m:t>∑relative frequencies≈1</m:t>
                      </m:r>
                    </m:oMath>
                  </m:oMathPara>
                </a14:m>
              </a:p>
            </p:txBody>
          </p:sp>
        </mc:Choice>
      </mc:AlternateContent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IL-6: Density as a Probability Model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density curve represents an estimate of the probability density function [PDF] of IL-6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nor/>
                          <m:sty m:val="p"/>
                        </m:rPr>
                        <m:t>f(x)=density at IL-6 value x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Key properties:</a:t>
                </a:r>
              </a:p>
              <a:p>
                <a:pPr lvl="0"/>
                <a14:m>
                  <m:oMath xmlns:m="http://schemas.openxmlformats.org/officeDocument/2006/math">
                    <m:r>
                      <m:t>f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r>
                          <m:t>x</m:t>
                        </m:r>
                      </m:e>
                    </m:d>
                    <m:r>
                      <m:rPr>
                        <m:sty m:val="p"/>
                      </m:rPr>
                      <m:t>≥</m:t>
                    </m:r>
                    <m:r>
                      <m:t>0</m:t>
                    </m:r>
                  </m:oMath>
                </a14:m>
              </a:p>
              <a:p>
                <a:pPr lvl="0"/>
                <a:r>
                  <a:rPr/>
                  <a:t>total area under the curve equals 1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nary>
                        <m:naryPr>
                          <m:chr m:val="∫"/>
                          <m:limLoc m:val="subSup"/>
                          <m:subHide m:val="off"/>
                          <m:supHide m:val="off"/>
                        </m:naryPr>
                        <m:sub>
                          <m:r>
                            <m:rPr>
                              <m:sty m:val="p"/>
                            </m:rPr>
                            <m:t>−</m:t>
                          </m:r>
                          <m:r>
                            <m:rPr>
                              <m:sty m:val="p"/>
                            </m:rPr>
                            <m:t>∞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m:t>∞</m:t>
                          </m:r>
                        </m:sup>
                        <m:e>
                          <m:r>
                            <m:t>f</m:t>
                          </m:r>
                        </m:e>
                      </m:nary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x</m:t>
                          </m:r>
                        </m:e>
                      </m:d>
                      <m:r>
                        <m:t> </m:t>
                      </m:r>
                      <m:r>
                        <m:t>d</m:t>
                      </m:r>
                      <m:r>
                        <m:t>x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t>1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Interpretation:</a:t>
                </a:r>
              </a:p>
              <a:p>
                <a:pPr lvl="0"/>
                <a:r>
                  <a:rPr/>
                  <a:t>height of the curve reflects relative likelihood of IL-6 values near x</a:t>
                </a:r>
              </a:p>
              <a:p>
                <a:pPr lvl="0"/>
                <a:r>
                  <a:rPr/>
                  <a:t>area under the curve over an interval gives probability</a:t>
                </a:r>
              </a:p>
              <a:p>
                <a:pPr lvl="0" indent="0" marL="0">
                  <a:buNone/>
                </a:pPr>
                <a:r>
                  <a:rPr/>
                  <a:t>Example: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P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10</m:t>
                          </m:r>
                          <m:r>
                            <m:rPr>
                              <m:sty m:val="p"/>
                            </m:rPr>
                            <m:t>≤</m:t>
                          </m:r>
                          <m:r>
                            <m:t>X</m:t>
                          </m:r>
                          <m:r>
                            <m:rPr>
                              <m:sty m:val="p"/>
                            </m:rPr>
                            <m:t>≤</m:t>
                          </m:r>
                          <m:r>
                            <m:t>20</m:t>
                          </m:r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nary>
                        <m:naryPr>
                          <m:chr m:val="∫"/>
                          <m:limLoc m:val="subSup"/>
                          <m:subHide m:val="off"/>
                          <m:supHide m:val="off"/>
                        </m:naryPr>
                        <m:sub>
                          <m:r>
                            <m:t>10</m:t>
                          </m:r>
                        </m:sub>
                        <m:sup>
                          <m:r>
                            <m:t>20</m:t>
                          </m:r>
                        </m:sup>
                        <m:e>
                          <m:r>
                            <m:t>f</m:t>
                          </m:r>
                        </m:e>
                      </m:nary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x</m:t>
                          </m:r>
                        </m:e>
                      </m:d>
                      <m:r>
                        <m:t> </m:t>
                      </m:r>
                      <m:r>
                        <m:t>d</m:t>
                      </m:r>
                      <m:r>
                        <m:t>x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- value corresponds to the region where most IL-6 values are concentrated or the probability that X falls in the 10 to 20 interval</a:t>
                </a:r>
              </a:p>
            </p:txBody>
          </p:sp>
        </mc:Choice>
      </mc:AlternateContent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IL-6: Boxplot and Probability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boxplot summarizes probability using quantiles</a:t>
                </a:r>
              </a:p>
              <a:p>
                <a:pPr lvl="0" indent="0" marL="0">
                  <a:buNone/>
                </a:pPr>
                <a:r>
                  <a:rPr/>
                  <a:t>Quantiles partition probability:</a:t>
                </a:r>
              </a:p>
              <a:p>
                <a:pPr lvl="0"/>
                <a14:m>
                  <m:oMath xmlns:m="http://schemas.openxmlformats.org/officeDocument/2006/math">
                    <m:sSub>
                      <m:e>
                        <m:r>
                          <m:t>Q</m:t>
                        </m:r>
                      </m:e>
                      <m:sub>
                        <m:r>
                          <m:t>1</m:t>
                        </m:r>
                      </m:sub>
                    </m:sSub>
                  </m:oMath>
                </a14:m>
                <a:r>
                  <a:rPr/>
                  <a:t> : 25th percentile → 25% of observations fall below this value</a:t>
                </a:r>
              </a:p>
              <a:p>
                <a:pPr lvl="0"/>
                <a:r>
                  <a:rPr/>
                  <a:t>median: 50th percentile</a:t>
                </a:r>
              </a:p>
              <a:p>
                <a:pPr lvl="0"/>
                <a14:m>
                  <m:oMath xmlns:m="http://schemas.openxmlformats.org/officeDocument/2006/math">
                    <m:sSub>
                      <m:e>
                        <m:r>
                          <m:t>Q</m:t>
                        </m:r>
                      </m:e>
                      <m:sub>
                        <m:r>
                          <m:t>3</m:t>
                        </m:r>
                      </m:sub>
                    </m:sSub>
                  </m:oMath>
                </a14:m>
                <a:r>
                  <a:rPr/>
                  <a:t> : 75th percentile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P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X</m:t>
                          </m:r>
                          <m:r>
                            <m:rPr>
                              <m:sty m:val="p"/>
                            </m:rPr>
                            <m:t>≤</m:t>
                          </m:r>
                          <m:sSub>
                            <m:e>
                              <m:r>
                                <m:t>Q</m:t>
                              </m:r>
                            </m:e>
                            <m:sub>
                              <m:r>
                                <m:t>1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r>
                        <m:t>0.25</m:t>
                      </m:r>
                      <m:r>
                        <m:rPr>
                          <m:sty m:val="p"/>
                        </m:rPr>
                        <m:t>,</m:t>
                      </m:r>
                      <m:r>
                        <m:t> </m:t>
                      </m:r>
                      <m:r>
                        <m:t>P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X</m:t>
                          </m:r>
                          <m:r>
                            <m:rPr>
                              <m:sty m:val="p"/>
                            </m:rPr>
                            <m:t>≤</m:t>
                          </m:r>
                          <m:r>
                            <m:rPr>
                              <m:nor/>
                              <m:sty m:val="p"/>
                            </m:rPr>
                            <m:t>Median</m:t>
                          </m:r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r>
                        <m:t>0.5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Interpretation for IL-6:</a:t>
                </a:r>
              </a:p>
              <a:p>
                <a:pPr lvl="0"/>
                <a:r>
                  <a:rPr/>
                  <a:t>middle 50% of probability lies between: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7.26</m:t>
                      </m:r>
                      <m:r>
                        <m:rPr>
                          <m:sty m:val="p"/>
                        </m:rPr>
                        <m:t>≤</m:t>
                      </m:r>
                      <m:r>
                        <m:t>X</m:t>
                      </m:r>
                      <m:r>
                        <m:rPr>
                          <m:sty m:val="p"/>
                        </m:rPr>
                        <m:t>≤</m:t>
                      </m:r>
                      <m:r>
                        <m:t>19.5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- interval defines the highest-density region of the distribution</a:t>
                </a:r>
              </a:p>
              <a:p>
                <a:pPr lvl="0" indent="0" marL="0">
                  <a:buNone/>
                </a:pPr>
                <a:r>
                  <a:rPr/>
                  <a:t>Outliers:</a:t>
                </a:r>
              </a:p>
              <a:p>
                <a:pPr lvl="0"/>
                <a:r>
                  <a:rPr/>
                  <a:t>represent observations in low-probability regions</a:t>
                </a:r>
              </a:p>
              <a:p>
                <a:pPr lvl="0"/>
                <a:r>
                  <a:rPr/>
                  <a:t>often correspond to clinically extreme cases</a:t>
                </a:r>
              </a:p>
            </p:txBody>
          </p:sp>
        </mc:Choice>
      </mc:AlternateContent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descriptive features define how the sample should be understood before later modeling decisions are made</a:t>
            </a:r>
          </a:p>
          <a:p>
            <a:pPr lvl="0" indent="0" marL="0">
              <a:buNone/>
            </a:pPr>
            <a:r>
              <a:rPr/>
              <a:t>plots and probabilities describing continuous variables help answer:</a:t>
            </a:r>
          </a:p>
          <a:p>
            <a:pPr lvl="0"/>
            <a:r>
              <a:rPr>
                <a:latin typeface="Courier"/>
              </a:rPr>
              <a:t>mean and median</a:t>
            </a:r>
            <a:r>
              <a:rPr/>
              <a:t>: describe where the sample is centered</a:t>
            </a:r>
            <a:br/>
          </a:p>
          <a:p>
            <a:pPr lvl="0"/>
            <a:r>
              <a:rPr>
                <a:latin typeface="Courier"/>
              </a:rPr>
              <a:t>standard deviation and IQR</a:t>
            </a:r>
            <a:r>
              <a:rPr/>
              <a:t>: describe how widely values vary</a:t>
            </a:r>
            <a:br/>
          </a:p>
          <a:p>
            <a:pPr lvl="0"/>
            <a:r>
              <a:rPr>
                <a:latin typeface="Courier"/>
              </a:rPr>
              <a:t>histograms and density plots</a:t>
            </a:r>
            <a:r>
              <a:rPr/>
              <a:t>: describe shape and concentration across the scale</a:t>
            </a:r>
            <a:br/>
          </a:p>
          <a:p>
            <a:pPr lvl="0"/>
            <a:r>
              <a:rPr>
                <a:latin typeface="Courier"/>
              </a:rPr>
              <a:t>boxplots</a:t>
            </a:r>
            <a:r>
              <a:rPr/>
              <a:t>: describe ordered spread and tail extension</a:t>
            </a:r>
            <a:br/>
          </a:p>
          <a:p>
            <a:pPr lvl="0"/>
            <a:r>
              <a:rPr>
                <a:latin typeface="Courier"/>
              </a:rPr>
              <a:t>interval probabilities</a:t>
            </a:r>
            <a:r>
              <a:rPr/>
              <a:t>: describe the fraction of values occupying clinically meaningful ranges</a:t>
            </a:r>
          </a:p>
          <a:p>
            <a:pPr lvl="0" indent="0" marL="0">
              <a:buNone/>
            </a:pPr>
            <a:r>
              <a:rPr/>
              <a:t>metrics help determine whether values are:</a:t>
            </a:r>
          </a:p>
          <a:p>
            <a:pPr lvl="0"/>
            <a:r>
              <a:rPr/>
              <a:t>approximately symmetric</a:t>
            </a:r>
            <a:br/>
          </a:p>
          <a:p>
            <a:pPr lvl="0"/>
            <a:r>
              <a:rPr/>
              <a:t>right-skewed or left-skewed</a:t>
            </a:r>
            <a:br/>
          </a:p>
          <a:p>
            <a:pPr lvl="0"/>
            <a:r>
              <a:rPr/>
              <a:t>tightly concentrated or broadly dispersed</a:t>
            </a:r>
            <a:br/>
          </a:p>
          <a:p>
            <a:pPr lvl="0"/>
            <a:r>
              <a:rPr/>
              <a:t>characterized by extended tails or unusually large values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Describing Continuous Data: Center, Spread, Shape, and Interval Probability</dc:title>
  <dc:creator> Lesley Chapman Hannah, Ph.D., M.S. College of Graduate Studies Northeast Ohio Medical University</dc:creator>
  <cp:keywords/>
  <dcterms:created xsi:type="dcterms:W3CDTF">2026-03-23T14:35:07Z</dcterms:created>
  <dcterms:modified xsi:type="dcterms:W3CDTF">2026-03-23T14:35:07Z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xecute">
    <vt:lpwstr/>
  </property>
  <property fmtid="{D5CDD505-2E9C-101B-9397-08002B2CF9AE}" pid="6" name="header-includes">
    <vt:lpwstr/>
  </property>
  <property fmtid="{D5CDD505-2E9C-101B-9397-08002B2CF9AE}" pid="7" name="include-after">
    <vt:lpwstr/>
  </property>
  <property fmtid="{D5CDD505-2E9C-101B-9397-08002B2CF9AE}" pid="8" name="include-before">
    <vt:lpwstr/>
  </property>
  <property fmtid="{D5CDD505-2E9C-101B-9397-08002B2CF9AE}" pid="9" name="labels">
    <vt:lpwstr/>
  </property>
  <property fmtid="{D5CDD505-2E9C-101B-9397-08002B2CF9AE}" pid="10" name="toc-title">
    <vt:lpwstr>Table of contents</vt:lpwstr>
  </property>
</Properties>
</file>